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6" r:id="rId8"/>
    <p:sldId id="262" r:id="rId9"/>
    <p:sldId id="263" r:id="rId10"/>
    <p:sldId id="264" r:id="rId11"/>
    <p:sldId id="267" r:id="rId12"/>
    <p:sldId id="268" r:id="rId13"/>
  </p:sldIdLst>
  <p:sldSz cx="14630400" cy="8229600"/>
  <p:notesSz cx="8229600" cy="14630400"/>
  <p:embeddedFontLst>
    <p:embeddedFont>
      <p:font typeface="Bricolage Grotesque Extra Bold" panose="020B0604020202020204" charset="0"/>
      <p:regular r:id="rId15"/>
    </p:embeddedFont>
    <p:embeddedFont>
      <p:font typeface="Montserrat" panose="00000500000000000000" pitchFamily="2" charset="0"/>
      <p:regular r:id="rId16"/>
    </p:embeddedFont>
    <p:embeddedFont>
      <p:font typeface="Montserrat Medium" panose="00000600000000000000" pitchFamily="2" charset="0"/>
      <p:regular r:id="rId1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>
        <p:scale>
          <a:sx n="62" d="100"/>
          <a:sy n="62" d="100"/>
        </p:scale>
        <p:origin x="984" y="3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3.fntdata"/><Relationship Id="rId2" Type="http://schemas.openxmlformats.org/officeDocument/2006/relationships/slide" Target="slides/slide1.xml"/><Relationship Id="rId16" Type="http://schemas.openxmlformats.org/officeDocument/2006/relationships/font" Target="fonts/font2.fntdata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1.fntdata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369764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62C73A-3B36-A2C2-3A5C-319C2C8C52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4BC9245-DA97-B7D8-4116-4C657410CC1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D9D66EA-6E71-587C-DA3D-8F82436AD9B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3AB0D50-04BB-52FF-7414-BAB7B4B4E96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070673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82D5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90E3F"/>
          </a:solidFill>
          <a:ln/>
        </p:spPr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82D5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90E3F"/>
          </a:solidFill>
          <a:ln/>
        </p:spPr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82D5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90E3F"/>
          </a:solidFill>
          <a:ln/>
        </p:spPr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82D5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90E3F"/>
          </a:solidFill>
          <a:ln/>
        </p:spPr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82D5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90E3F"/>
          </a:solidFill>
          <a:ln/>
        </p:spPr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82D5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90E3F"/>
          </a:solidFill>
          <a:ln/>
        </p:spPr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82D5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90E3F"/>
          </a:solidFill>
          <a:ln/>
        </p:spPr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82D5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90E3F"/>
          </a:solidFill>
          <a:ln/>
        </p:spPr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82D5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90E3F"/>
          </a:solidFill>
          <a:ln/>
        </p:spPr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82D5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90E3F"/>
          </a:solidFill>
          <a:ln/>
        </p:spPr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svg"/><Relationship Id="rId13" Type="http://schemas.openxmlformats.org/officeDocument/2006/relationships/image" Target="../media/image13.pn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12" Type="http://schemas.openxmlformats.org/officeDocument/2006/relationships/image" Target="../media/image1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6.svg"/><Relationship Id="rId11" Type="http://schemas.openxmlformats.org/officeDocument/2006/relationships/image" Target="../media/image11.png"/><Relationship Id="rId5" Type="http://schemas.openxmlformats.org/officeDocument/2006/relationships/image" Target="../media/image5.png"/><Relationship Id="rId10" Type="http://schemas.openxmlformats.org/officeDocument/2006/relationships/image" Target="../media/image10.svg"/><Relationship Id="rId4" Type="http://schemas.openxmlformats.org/officeDocument/2006/relationships/image" Target="../media/image4.svg"/><Relationship Id="rId9" Type="http://schemas.openxmlformats.org/officeDocument/2006/relationships/image" Target="../media/image9.png"/><Relationship Id="rId14" Type="http://schemas.openxmlformats.org/officeDocument/2006/relationships/image" Target="../media/image1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7" Type="http://schemas.openxmlformats.org/officeDocument/2006/relationships/image" Target="../media/image2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svg"/><Relationship Id="rId3" Type="http://schemas.openxmlformats.org/officeDocument/2006/relationships/image" Target="../media/image21.png"/><Relationship Id="rId7" Type="http://schemas.openxmlformats.org/officeDocument/2006/relationships/image" Target="../media/image2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24.png"/><Relationship Id="rId11" Type="http://schemas.openxmlformats.org/officeDocument/2006/relationships/image" Target="../media/image29.svg"/><Relationship Id="rId5" Type="http://schemas.openxmlformats.org/officeDocument/2006/relationships/image" Target="../media/image23.svg"/><Relationship Id="rId10" Type="http://schemas.openxmlformats.org/officeDocument/2006/relationships/image" Target="../media/image28.png"/><Relationship Id="rId4" Type="http://schemas.openxmlformats.org/officeDocument/2006/relationships/image" Target="../media/image22.png"/><Relationship Id="rId9" Type="http://schemas.openxmlformats.org/officeDocument/2006/relationships/image" Target="../media/image2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9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0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8520056" y="0"/>
            <a:ext cx="6110344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2691527"/>
            <a:ext cx="75564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800" b="1" dirty="0">
                <a:solidFill>
                  <a:srgbClr val="EEAEF6"/>
                </a:solidFill>
                <a:latin typeface="Montserrat Medium" panose="00000600000000000000" pitchFamily="2" charset="0"/>
                <a:ea typeface="Bricolage Grotesque Extra Bold" pitchFamily="34" charset="-122"/>
                <a:cs typeface="Mongolian Baiti" panose="03000500000000000000" pitchFamily="66" charset="0"/>
              </a:rPr>
              <a:t>Traffic Accident Severity Prediction System</a:t>
            </a:r>
            <a:endParaRPr lang="en-US" sz="4800" dirty="0">
              <a:latin typeface="Montserrat Medium" panose="00000600000000000000" pitchFamily="2" charset="0"/>
              <a:cs typeface="Mongolian Baiti" panose="03000500000000000000" pitchFamily="66" charset="0"/>
            </a:endParaRPr>
          </a:p>
        </p:txBody>
      </p:sp>
      <p:sp>
        <p:nvSpPr>
          <p:cNvPr id="4" name="Text 1"/>
          <p:cNvSpPr/>
          <p:nvPr/>
        </p:nvSpPr>
        <p:spPr>
          <a:xfrm>
            <a:off x="793790" y="4819638"/>
            <a:ext cx="7556421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600" dirty="0">
                <a:solidFill>
                  <a:srgbClr val="E5DC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 machine learning-powered solution that predicts accident severity in real-time, helping authorities respond faster and save lives.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8869680" y="0"/>
            <a:ext cx="576072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93089" y="1031856"/>
            <a:ext cx="8775002" cy="7969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5550"/>
              </a:lnSpc>
            </a:pPr>
            <a:r>
              <a:rPr lang="en-US" sz="4400" b="1" dirty="0">
                <a:solidFill>
                  <a:srgbClr val="EEAEF6"/>
                </a:solidFill>
                <a:latin typeface="Montserrat Medium" panose="00000600000000000000" pitchFamily="2" charset="0"/>
                <a:ea typeface="Bricolage Grotesque Extra Bold" pitchFamily="34" charset="-122"/>
                <a:cs typeface="Mongolian Baiti" panose="03000500000000000000" pitchFamily="66" charset="0"/>
              </a:rPr>
              <a:t>The Challenge We're Solving</a:t>
            </a:r>
            <a:endParaRPr lang="en-US" sz="4400" dirty="0">
              <a:latin typeface="Montserrat Medium" panose="00000600000000000000" pitchFamily="2" charset="0"/>
              <a:cs typeface="Mongolian Baiti" panose="03000500000000000000" pitchFamily="66" charset="0"/>
            </a:endParaRPr>
          </a:p>
          <a:p>
            <a:pPr marL="0" indent="0" algn="l">
              <a:lnSpc>
                <a:spcPts val="5550"/>
              </a:lnSpc>
              <a:buNone/>
            </a:pPr>
            <a:endParaRPr lang="en-US" sz="4450" dirty="0"/>
          </a:p>
          <a:p>
            <a:pPr marL="0" indent="0" algn="l">
              <a:lnSpc>
                <a:spcPts val="5550"/>
              </a:lnSpc>
              <a:buNone/>
            </a:pPr>
            <a:endParaRPr lang="en-US" sz="4450" dirty="0"/>
          </a:p>
          <a:p>
            <a:pPr marL="0" indent="0" algn="l">
              <a:lnSpc>
                <a:spcPts val="5550"/>
              </a:lnSpc>
              <a:buNone/>
            </a:pPr>
            <a:endParaRPr lang="en-US" sz="4450" dirty="0"/>
          </a:p>
        </p:txBody>
      </p:sp>
      <p:sp>
        <p:nvSpPr>
          <p:cNvPr id="10" name="Text 1">
            <a:extLst>
              <a:ext uri="{FF2B5EF4-FFF2-40B4-BE49-F238E27FC236}">
                <a16:creationId xmlns:a16="http://schemas.microsoft.com/office/drawing/2014/main" id="{753ADC61-F9D4-5484-18FB-401F6B834998}"/>
              </a:ext>
            </a:extLst>
          </p:cNvPr>
          <p:cNvSpPr/>
          <p:nvPr/>
        </p:nvSpPr>
        <p:spPr>
          <a:xfrm>
            <a:off x="793789" y="2610445"/>
            <a:ext cx="7604284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dirty="0">
                <a:solidFill>
                  <a:srgbClr val="E5DC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Road traffic accidents result in significant human and economic costs worldwide. Emergency response teams need accurate, immediate information about accident severity to allocate resources effectively and save lives.</a:t>
            </a:r>
            <a:endParaRPr lang="en-US" dirty="0"/>
          </a:p>
        </p:txBody>
      </p:sp>
      <p:sp>
        <p:nvSpPr>
          <p:cNvPr id="11" name="Text 2">
            <a:extLst>
              <a:ext uri="{FF2B5EF4-FFF2-40B4-BE49-F238E27FC236}">
                <a16:creationId xmlns:a16="http://schemas.microsoft.com/office/drawing/2014/main" id="{0FDEA016-B26E-41F9-4585-1522A3200326}"/>
              </a:ext>
            </a:extLst>
          </p:cNvPr>
          <p:cNvSpPr/>
          <p:nvPr/>
        </p:nvSpPr>
        <p:spPr>
          <a:xfrm>
            <a:off x="793790" y="4679589"/>
            <a:ext cx="7604284" cy="15707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5DC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Our system bridges this critical gap by analyzing environmental, traffic, and weather data in real-time to predict whether an accident will result in fatal </a:t>
            </a:r>
            <a:r>
              <a:rPr lang="en-US" dirty="0">
                <a:solidFill>
                  <a:srgbClr val="E5DC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injury</a:t>
            </a:r>
            <a:r>
              <a:rPr lang="en-US" sz="1750" dirty="0">
                <a:solidFill>
                  <a:srgbClr val="E5DC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, serious injury, or slight injury—enabling faster, smarter emergency response.</a:t>
            </a:r>
            <a:endParaRPr lang="en-US" sz="1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89" y="843082"/>
            <a:ext cx="10364205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5550"/>
              </a:lnSpc>
            </a:pPr>
            <a:r>
              <a:rPr lang="en-US" sz="4400" b="1" dirty="0">
                <a:solidFill>
                  <a:srgbClr val="EEAEF6"/>
                </a:solidFill>
                <a:latin typeface="Montserrat Medium" panose="00000600000000000000" pitchFamily="2" charset="0"/>
                <a:ea typeface="Bricolage Grotesque Extra Bold" pitchFamily="34" charset="-122"/>
                <a:cs typeface="Bricolage Grotesque Extra Bold" pitchFamily="34" charset="-120"/>
              </a:rPr>
              <a:t>System Architecture Overview</a:t>
            </a:r>
            <a:endParaRPr lang="en-US" sz="4400" dirty="0">
              <a:latin typeface="Montserrat Medium" panose="00000600000000000000" pitchFamily="2" charset="0"/>
            </a:endParaRPr>
          </a:p>
          <a:p>
            <a:pPr marL="0" indent="0" algn="l">
              <a:lnSpc>
                <a:spcPts val="5550"/>
              </a:lnSpc>
              <a:buNone/>
            </a:pPr>
            <a:endParaRPr lang="en-US" sz="445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207770" y="2419350"/>
            <a:ext cx="306110" cy="306110"/>
          </a:xfrm>
          <a:prstGeom prst="rect">
            <a:avLst/>
          </a:prstGeom>
        </p:spPr>
      </p:pic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842528" y="2419350"/>
            <a:ext cx="306110" cy="306110"/>
          </a:xfrm>
          <a:prstGeom prst="rect">
            <a:avLst/>
          </a:prstGeom>
        </p:spPr>
      </p:pic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207770" y="5223272"/>
            <a:ext cx="306110" cy="306110"/>
          </a:xfrm>
          <a:prstGeom prst="rect">
            <a:avLst/>
          </a:prstGeom>
        </p:spPr>
      </p:pic>
      <p:pic>
        <p:nvPicPr>
          <p:cNvPr id="20" name="Image 3" descr="preencoded.png"/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7842528" y="5223272"/>
            <a:ext cx="306110" cy="306110"/>
          </a:xfrm>
          <a:prstGeom prst="rect">
            <a:avLst/>
          </a:prstGeom>
        </p:spPr>
      </p:pic>
      <p:pic>
        <p:nvPicPr>
          <p:cNvPr id="27" name="Image 0" descr="preencoded.png">
            <a:extLst>
              <a:ext uri="{FF2B5EF4-FFF2-40B4-BE49-F238E27FC236}">
                <a16:creationId xmlns:a16="http://schemas.microsoft.com/office/drawing/2014/main" id="{671B468A-1CDF-42BB-739B-17D185CE97C4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93790" y="1738908"/>
            <a:ext cx="6313066" cy="907256"/>
          </a:xfrm>
          <a:prstGeom prst="rect">
            <a:avLst/>
          </a:prstGeom>
        </p:spPr>
      </p:pic>
      <p:pic>
        <p:nvPicPr>
          <p:cNvPr id="28" name="Image 1" descr="preencoded.png">
            <a:extLst>
              <a:ext uri="{FF2B5EF4-FFF2-40B4-BE49-F238E27FC236}">
                <a16:creationId xmlns:a16="http://schemas.microsoft.com/office/drawing/2014/main" id="{4645E281-7F23-3039-6FBF-55E714855778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315200" y="1738908"/>
            <a:ext cx="6022240" cy="907256"/>
          </a:xfrm>
          <a:prstGeom prst="rect">
            <a:avLst/>
          </a:prstGeom>
        </p:spPr>
      </p:pic>
      <p:sp>
        <p:nvSpPr>
          <p:cNvPr id="29" name="Text 1">
            <a:extLst>
              <a:ext uri="{FF2B5EF4-FFF2-40B4-BE49-F238E27FC236}">
                <a16:creationId xmlns:a16="http://schemas.microsoft.com/office/drawing/2014/main" id="{9B96A360-31C6-BD2D-FCE0-6345962544EC}"/>
              </a:ext>
            </a:extLst>
          </p:cNvPr>
          <p:cNvSpPr/>
          <p:nvPr/>
        </p:nvSpPr>
        <p:spPr>
          <a:xfrm>
            <a:off x="881708" y="2881966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E5DCE6"/>
                </a:solidFill>
                <a:latin typeface="Montserrat "/>
                <a:ea typeface="Bricolage Grotesque Extra Bold" pitchFamily="34" charset="-122"/>
                <a:cs typeface="Bricolage Grotesque Extra Bold" pitchFamily="34" charset="-120"/>
              </a:rPr>
              <a:t>Data Collection</a:t>
            </a:r>
            <a:endParaRPr lang="en-US" sz="2200" dirty="0">
              <a:latin typeface="Montserrat "/>
            </a:endParaRPr>
          </a:p>
        </p:txBody>
      </p:sp>
      <p:sp>
        <p:nvSpPr>
          <p:cNvPr id="30" name="Text 3">
            <a:extLst>
              <a:ext uri="{FF2B5EF4-FFF2-40B4-BE49-F238E27FC236}">
                <a16:creationId xmlns:a16="http://schemas.microsoft.com/office/drawing/2014/main" id="{DC0DAFC4-ECE6-1BC7-F9F3-977D04BF5D22}"/>
              </a:ext>
            </a:extLst>
          </p:cNvPr>
          <p:cNvSpPr/>
          <p:nvPr/>
        </p:nvSpPr>
        <p:spPr>
          <a:xfrm>
            <a:off x="7428548" y="2872978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E5DCE6"/>
                </a:solidFill>
                <a:latin typeface="Montserrat "/>
                <a:ea typeface="Bricolage Grotesque Extra Bold" pitchFamily="34" charset="-122"/>
                <a:cs typeface="Bricolage Grotesque Extra Bold" pitchFamily="34" charset="-120"/>
              </a:rPr>
              <a:t>ML Pipeline</a:t>
            </a:r>
            <a:endParaRPr lang="en-US" sz="2200" dirty="0">
              <a:latin typeface="Montserrat "/>
            </a:endParaRPr>
          </a:p>
        </p:txBody>
      </p:sp>
      <p:sp>
        <p:nvSpPr>
          <p:cNvPr id="31" name="Text 2">
            <a:extLst>
              <a:ext uri="{FF2B5EF4-FFF2-40B4-BE49-F238E27FC236}">
                <a16:creationId xmlns:a16="http://schemas.microsoft.com/office/drawing/2014/main" id="{D60C3F99-393C-2332-D608-435A2491C99E}"/>
              </a:ext>
            </a:extLst>
          </p:cNvPr>
          <p:cNvSpPr/>
          <p:nvPr/>
        </p:nvSpPr>
        <p:spPr>
          <a:xfrm>
            <a:off x="881708" y="3426928"/>
            <a:ext cx="6067782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dirty="0">
                <a:solidFill>
                  <a:srgbClr val="E5DC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Accident records with environmental, traffic, and weather parameters</a:t>
            </a:r>
            <a:endParaRPr lang="en-US" dirty="0"/>
          </a:p>
        </p:txBody>
      </p:sp>
      <p:sp>
        <p:nvSpPr>
          <p:cNvPr id="32" name="Text 4">
            <a:extLst>
              <a:ext uri="{FF2B5EF4-FFF2-40B4-BE49-F238E27FC236}">
                <a16:creationId xmlns:a16="http://schemas.microsoft.com/office/drawing/2014/main" id="{5DCBD52C-7CFD-CA73-5519-B91F0ED0B6A2}"/>
              </a:ext>
            </a:extLst>
          </p:cNvPr>
          <p:cNvSpPr/>
          <p:nvPr/>
        </p:nvSpPr>
        <p:spPr>
          <a:xfrm>
            <a:off x="7428548" y="3422091"/>
            <a:ext cx="6067782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dirty="0">
                <a:solidFill>
                  <a:srgbClr val="E5DC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Feature engineering, model training, and evaluation</a:t>
            </a:r>
            <a:endParaRPr lang="en-US" dirty="0"/>
          </a:p>
        </p:txBody>
      </p:sp>
      <p:pic>
        <p:nvPicPr>
          <p:cNvPr id="33" name="Image 2" descr="preencoded.png">
            <a:extLst>
              <a:ext uri="{FF2B5EF4-FFF2-40B4-BE49-F238E27FC236}">
                <a16:creationId xmlns:a16="http://schemas.microsoft.com/office/drawing/2014/main" id="{7B9DF183-6DF8-E54E-2010-AC68E11AB984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93790" y="4526090"/>
            <a:ext cx="6155700" cy="907256"/>
          </a:xfrm>
          <a:prstGeom prst="rect">
            <a:avLst/>
          </a:prstGeom>
        </p:spPr>
      </p:pic>
      <p:sp>
        <p:nvSpPr>
          <p:cNvPr id="34" name="Text 5">
            <a:extLst>
              <a:ext uri="{FF2B5EF4-FFF2-40B4-BE49-F238E27FC236}">
                <a16:creationId xmlns:a16="http://schemas.microsoft.com/office/drawing/2014/main" id="{3669DDC3-3A8E-0A60-F8BF-3D0EA1853E0C}"/>
              </a:ext>
            </a:extLst>
          </p:cNvPr>
          <p:cNvSpPr/>
          <p:nvPr/>
        </p:nvSpPr>
        <p:spPr>
          <a:xfrm>
            <a:off x="793790" y="5700335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E5DCE6"/>
                </a:solidFill>
                <a:latin typeface="Bricolage Grotesque Extra Bold" pitchFamily="34" charset="0"/>
                <a:ea typeface="Bricolage Grotesque Extra Bold" pitchFamily="34" charset="-122"/>
                <a:cs typeface="Bricolage Grotesque Extra Bold" pitchFamily="34" charset="-120"/>
              </a:rPr>
              <a:t>Flask </a:t>
            </a:r>
            <a:r>
              <a:rPr lang="en-US" sz="2200" b="1" dirty="0">
                <a:solidFill>
                  <a:srgbClr val="E5DCE6"/>
                </a:solidFill>
                <a:latin typeface="Montserrat "/>
                <a:ea typeface="Bricolage Grotesque Extra Bold" pitchFamily="34" charset="-122"/>
                <a:cs typeface="Bricolage Grotesque Extra Bold" pitchFamily="34" charset="-120"/>
              </a:rPr>
              <a:t>API</a:t>
            </a:r>
            <a:endParaRPr lang="en-US" sz="2200" dirty="0">
              <a:latin typeface="Montserrat "/>
            </a:endParaRPr>
          </a:p>
        </p:txBody>
      </p:sp>
      <p:sp>
        <p:nvSpPr>
          <p:cNvPr id="35" name="Text 6">
            <a:extLst>
              <a:ext uri="{FF2B5EF4-FFF2-40B4-BE49-F238E27FC236}">
                <a16:creationId xmlns:a16="http://schemas.microsoft.com/office/drawing/2014/main" id="{9A2EF2A2-CC4B-16B7-23DC-8DE18D28D148}"/>
              </a:ext>
            </a:extLst>
          </p:cNvPr>
          <p:cNvSpPr/>
          <p:nvPr/>
        </p:nvSpPr>
        <p:spPr>
          <a:xfrm>
            <a:off x="768236" y="6288031"/>
            <a:ext cx="6067782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5DC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Real-time </a:t>
            </a:r>
            <a:r>
              <a:rPr lang="en-US" dirty="0">
                <a:solidFill>
                  <a:srgbClr val="E5DC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prediction</a:t>
            </a:r>
            <a:r>
              <a:rPr lang="en-US" sz="1750" dirty="0">
                <a:solidFill>
                  <a:srgbClr val="E5DC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interface</a:t>
            </a:r>
            <a:endParaRPr lang="en-US" sz="1750" dirty="0"/>
          </a:p>
        </p:txBody>
      </p:sp>
      <p:pic>
        <p:nvPicPr>
          <p:cNvPr id="36" name="Image 3" descr="preencoded.png">
            <a:extLst>
              <a:ext uri="{FF2B5EF4-FFF2-40B4-BE49-F238E27FC236}">
                <a16:creationId xmlns:a16="http://schemas.microsoft.com/office/drawing/2014/main" id="{6751DD90-9678-5BAC-D867-30E553767A48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7400390" y="4526090"/>
            <a:ext cx="6022240" cy="907256"/>
          </a:xfrm>
          <a:prstGeom prst="rect">
            <a:avLst/>
          </a:prstGeom>
        </p:spPr>
      </p:pic>
      <p:sp>
        <p:nvSpPr>
          <p:cNvPr id="37" name="Text 7">
            <a:extLst>
              <a:ext uri="{FF2B5EF4-FFF2-40B4-BE49-F238E27FC236}">
                <a16:creationId xmlns:a16="http://schemas.microsoft.com/office/drawing/2014/main" id="{A9F60B55-6D62-3422-FB54-23594AE63D01}"/>
              </a:ext>
            </a:extLst>
          </p:cNvPr>
          <p:cNvSpPr/>
          <p:nvPr/>
        </p:nvSpPr>
        <p:spPr>
          <a:xfrm>
            <a:off x="7428548" y="5700335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E5DCE6"/>
                </a:solidFill>
                <a:latin typeface="Montserrat "/>
                <a:ea typeface="Bricolage Grotesque Extra Bold" pitchFamily="34" charset="-122"/>
                <a:cs typeface="Bricolage Grotesque Extra Bold" pitchFamily="34" charset="-120"/>
              </a:rPr>
              <a:t>Prediction Output</a:t>
            </a:r>
            <a:endParaRPr lang="en-US" sz="2200" dirty="0">
              <a:latin typeface="Montserrat "/>
            </a:endParaRPr>
          </a:p>
        </p:txBody>
      </p:sp>
      <p:sp>
        <p:nvSpPr>
          <p:cNvPr id="38" name="Text 8">
            <a:extLst>
              <a:ext uri="{FF2B5EF4-FFF2-40B4-BE49-F238E27FC236}">
                <a16:creationId xmlns:a16="http://schemas.microsoft.com/office/drawing/2014/main" id="{4D11E4AF-D160-F4D5-F047-02EC2A9F2F59}"/>
              </a:ext>
            </a:extLst>
          </p:cNvPr>
          <p:cNvSpPr/>
          <p:nvPr/>
        </p:nvSpPr>
        <p:spPr>
          <a:xfrm>
            <a:off x="7428548" y="6225618"/>
            <a:ext cx="6067782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5DC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Severity </a:t>
            </a:r>
            <a:r>
              <a:rPr lang="en-US" dirty="0">
                <a:solidFill>
                  <a:srgbClr val="E5DC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classification</a:t>
            </a:r>
            <a:r>
              <a:rPr lang="en-US" sz="1750" dirty="0">
                <a:solidFill>
                  <a:srgbClr val="E5DC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with confidence scores</a:t>
            </a:r>
            <a:endParaRPr lang="en-US" sz="1750" dirty="0"/>
          </a:p>
        </p:txBody>
      </p:sp>
      <p:sp>
        <p:nvSpPr>
          <p:cNvPr id="39" name="Text 9">
            <a:extLst>
              <a:ext uri="{FF2B5EF4-FFF2-40B4-BE49-F238E27FC236}">
                <a16:creationId xmlns:a16="http://schemas.microsoft.com/office/drawing/2014/main" id="{72ECDA26-5D98-2B85-C9BB-746BB8810746}"/>
              </a:ext>
            </a:extLst>
          </p:cNvPr>
          <p:cNvSpPr/>
          <p:nvPr/>
        </p:nvSpPr>
        <p:spPr>
          <a:xfrm>
            <a:off x="564755" y="6950369"/>
            <a:ext cx="13521635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dirty="0">
                <a:solidFill>
                  <a:srgbClr val="E5DC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The system integrates machine learning models with a responsive web application, enabling emergency dispatchers and traffic management systems to assess accident severity within seconds of receiving incident data.</a:t>
            </a:r>
            <a:endParaRPr lang="en-US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585216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656273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00" b="1" dirty="0">
                <a:solidFill>
                  <a:srgbClr val="EEAEF6"/>
                </a:solidFill>
                <a:latin typeface="Montserrat "/>
                <a:ea typeface="Bricolage Grotesque Extra Bold" pitchFamily="34" charset="-122"/>
                <a:cs typeface="Bricolage Grotesque Extra Bold" pitchFamily="34" charset="-120"/>
              </a:rPr>
              <a:t>Dataset Overview</a:t>
            </a:r>
            <a:endParaRPr lang="en-US" sz="4400" dirty="0">
              <a:latin typeface="Montserrat "/>
            </a:endParaRPr>
          </a:p>
        </p:txBody>
      </p:sp>
      <p:sp>
        <p:nvSpPr>
          <p:cNvPr id="4" name="Text 1"/>
          <p:cNvSpPr/>
          <p:nvPr/>
        </p:nvSpPr>
        <p:spPr>
          <a:xfrm>
            <a:off x="6280190" y="1932027"/>
            <a:ext cx="2690455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2650" b="1" dirty="0">
                <a:solidFill>
                  <a:srgbClr val="EEAEF6"/>
                </a:solidFill>
                <a:latin typeface="Bricolage Grotesque Extra Bold" pitchFamily="34" charset="0"/>
                <a:ea typeface="Bricolage Grotesque Extra Bold" pitchFamily="34" charset="-122"/>
                <a:cs typeface="Bricolage Grotesque Extra Bold" pitchFamily="34" charset="-120"/>
              </a:rPr>
              <a:t>Key </a:t>
            </a:r>
            <a:r>
              <a:rPr lang="en-US" sz="2400" b="1" dirty="0">
                <a:solidFill>
                  <a:srgbClr val="EEAEF6"/>
                </a:solidFill>
                <a:latin typeface="Montserrat "/>
                <a:ea typeface="Bricolage Grotesque Extra Bold" pitchFamily="34" charset="-122"/>
                <a:cs typeface="Bricolage Grotesque Extra Bold" pitchFamily="34" charset="-120"/>
              </a:rPr>
              <a:t>Attributes</a:t>
            </a:r>
            <a:endParaRPr lang="en-US" sz="2400" dirty="0">
              <a:latin typeface="Montserrat "/>
            </a:endParaRPr>
          </a:p>
        </p:txBody>
      </p:sp>
      <p:sp>
        <p:nvSpPr>
          <p:cNvPr id="5" name="Text 2"/>
          <p:cNvSpPr/>
          <p:nvPr/>
        </p:nvSpPr>
        <p:spPr>
          <a:xfrm>
            <a:off x="6280190" y="2584133"/>
            <a:ext cx="2690455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E5DC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Time and day of </a:t>
            </a:r>
            <a:r>
              <a:rPr lang="en-US" dirty="0">
                <a:solidFill>
                  <a:srgbClr val="E5DC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week</a:t>
            </a:r>
            <a:endParaRPr lang="en-US" dirty="0"/>
          </a:p>
        </p:txBody>
      </p:sp>
      <p:sp>
        <p:nvSpPr>
          <p:cNvPr id="6" name="Text 3"/>
          <p:cNvSpPr/>
          <p:nvPr/>
        </p:nvSpPr>
        <p:spPr>
          <a:xfrm>
            <a:off x="6280190" y="3389233"/>
            <a:ext cx="269045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E5DC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Weather conditions</a:t>
            </a:r>
            <a:endParaRPr lang="en-US" sz="1750" dirty="0"/>
          </a:p>
        </p:txBody>
      </p:sp>
      <p:sp>
        <p:nvSpPr>
          <p:cNvPr id="7" name="Text 4"/>
          <p:cNvSpPr/>
          <p:nvPr/>
        </p:nvSpPr>
        <p:spPr>
          <a:xfrm>
            <a:off x="6280190" y="3831431"/>
            <a:ext cx="2690455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E5DC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Vehicle type and speed</a:t>
            </a:r>
            <a:endParaRPr lang="en-US" sz="1750" dirty="0"/>
          </a:p>
        </p:txBody>
      </p:sp>
      <p:sp>
        <p:nvSpPr>
          <p:cNvPr id="8" name="Text 5"/>
          <p:cNvSpPr/>
          <p:nvPr/>
        </p:nvSpPr>
        <p:spPr>
          <a:xfrm>
            <a:off x="6280190" y="4636532"/>
            <a:ext cx="2690455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E5DC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Driver experience level</a:t>
            </a:r>
            <a:endParaRPr lang="en-US" sz="1750" dirty="0"/>
          </a:p>
        </p:txBody>
      </p:sp>
      <p:sp>
        <p:nvSpPr>
          <p:cNvPr id="9" name="Text 6"/>
          <p:cNvSpPr/>
          <p:nvPr/>
        </p:nvSpPr>
        <p:spPr>
          <a:xfrm>
            <a:off x="6280190" y="5441633"/>
            <a:ext cx="269045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E5DC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Collision type</a:t>
            </a:r>
            <a:endParaRPr lang="en-US" sz="1750" dirty="0"/>
          </a:p>
        </p:txBody>
      </p:sp>
      <p:sp>
        <p:nvSpPr>
          <p:cNvPr id="10" name="Text 7"/>
          <p:cNvSpPr/>
          <p:nvPr/>
        </p:nvSpPr>
        <p:spPr>
          <a:xfrm>
            <a:off x="6280190" y="5883831"/>
            <a:ext cx="2690455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E5DC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Road conditions and alignment</a:t>
            </a:r>
            <a:endParaRPr lang="en-US" sz="1750" dirty="0"/>
          </a:p>
        </p:txBody>
      </p:sp>
      <p:sp>
        <p:nvSpPr>
          <p:cNvPr id="11" name="Text 8"/>
          <p:cNvSpPr/>
          <p:nvPr/>
        </p:nvSpPr>
        <p:spPr>
          <a:xfrm>
            <a:off x="6280190" y="6688931"/>
            <a:ext cx="269045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E5DC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Traffic density</a:t>
            </a:r>
            <a:endParaRPr lang="en-US" sz="1750" dirty="0"/>
          </a:p>
        </p:txBody>
      </p:sp>
      <p:sp>
        <p:nvSpPr>
          <p:cNvPr id="12" name="Text 9"/>
          <p:cNvSpPr/>
          <p:nvPr/>
        </p:nvSpPr>
        <p:spPr>
          <a:xfrm>
            <a:off x="6280190" y="7131129"/>
            <a:ext cx="269045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E5DC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Temperature</a:t>
            </a:r>
            <a:endParaRPr lang="en-US" sz="1750" dirty="0"/>
          </a:p>
        </p:txBody>
      </p:sp>
      <p:sp>
        <p:nvSpPr>
          <p:cNvPr id="13" name="Text 10"/>
          <p:cNvSpPr/>
          <p:nvPr/>
        </p:nvSpPr>
        <p:spPr>
          <a:xfrm>
            <a:off x="9531668" y="1932027"/>
            <a:ext cx="3975140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2400" b="1" dirty="0">
                <a:solidFill>
                  <a:srgbClr val="EEAEF6"/>
                </a:solidFill>
                <a:latin typeface="Montserrat "/>
                <a:ea typeface="Bricolage Grotesque Extra Bold" pitchFamily="34" charset="-122"/>
                <a:cs typeface="Bricolage Grotesque Extra Bold" pitchFamily="34" charset="-120"/>
              </a:rPr>
              <a:t>Dataset Characteristics</a:t>
            </a:r>
            <a:endParaRPr lang="en-US" sz="2400" dirty="0">
              <a:latin typeface="Montserrat "/>
            </a:endParaRPr>
          </a:p>
        </p:txBody>
      </p:sp>
      <p:sp>
        <p:nvSpPr>
          <p:cNvPr id="14" name="Text 11"/>
          <p:cNvSpPr/>
          <p:nvPr/>
        </p:nvSpPr>
        <p:spPr>
          <a:xfrm>
            <a:off x="9531668" y="2584133"/>
            <a:ext cx="4312444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E5DC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15,000 records</a:t>
            </a:r>
            <a:r>
              <a:rPr lang="en-US" sz="1750" dirty="0">
                <a:solidFill>
                  <a:srgbClr val="E5DC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with balanced severity classes (5,000 each of Fatal, Serious, and Slight injuries).</a:t>
            </a:r>
            <a:endParaRPr lang="en-US" sz="1750" dirty="0"/>
          </a:p>
        </p:txBody>
      </p:sp>
      <p:sp>
        <p:nvSpPr>
          <p:cNvPr id="15" name="Text 12"/>
          <p:cNvSpPr/>
          <p:nvPr/>
        </p:nvSpPr>
        <p:spPr>
          <a:xfrm>
            <a:off x="9531668" y="3876913"/>
            <a:ext cx="4312444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5DC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Synthetic but realistic data designed to simulate real-world accident patterns across diverse conditions.</a:t>
            </a:r>
            <a:endParaRPr lang="en-US" sz="1750" dirty="0"/>
          </a:p>
        </p:txBody>
      </p:sp>
      <p:sp>
        <p:nvSpPr>
          <p:cNvPr id="16" name="Text 13"/>
          <p:cNvSpPr/>
          <p:nvPr/>
        </p:nvSpPr>
        <p:spPr>
          <a:xfrm>
            <a:off x="9531668" y="5169694"/>
            <a:ext cx="4312444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5DC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Combines environmental, situational, and driver-related parameters for comprehensive analysis.</a:t>
            </a:r>
            <a:endParaRPr lang="en-US" sz="1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8869680" y="139848"/>
            <a:ext cx="5760720" cy="8089751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14256" y="638175"/>
            <a:ext cx="7098268" cy="6378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000"/>
              </a:lnSpc>
              <a:buNone/>
            </a:pPr>
            <a:r>
              <a:rPr lang="en-US" sz="4000" b="1" dirty="0">
                <a:solidFill>
                  <a:srgbClr val="EEAEF6"/>
                </a:solidFill>
                <a:latin typeface="Bricolage Grotesque Extra Bold" pitchFamily="34" charset="0"/>
                <a:ea typeface="Bricolage Grotesque Extra Bold" pitchFamily="34" charset="-122"/>
                <a:cs typeface="Bricolage Grotesque Extra Bold" pitchFamily="34" charset="-120"/>
              </a:rPr>
              <a:t>Data Preprocessing Pipeline</a:t>
            </a:r>
            <a:endParaRPr lang="en-US" sz="4000" dirty="0"/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4256" y="1637258"/>
            <a:ext cx="1020485" cy="1502331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1938814" y="1786176"/>
            <a:ext cx="2551271" cy="318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200" b="1" dirty="0">
                <a:solidFill>
                  <a:srgbClr val="E5DCE6"/>
                </a:solidFill>
                <a:latin typeface="Montserrat "/>
                <a:ea typeface="Bricolage Grotesque Extra Bold" pitchFamily="34" charset="-122"/>
                <a:cs typeface="Bricolage Grotesque Extra Bold" pitchFamily="34" charset="-120"/>
              </a:rPr>
              <a:t>Data</a:t>
            </a:r>
            <a:r>
              <a:rPr lang="en-US" sz="2000" b="1" dirty="0">
                <a:solidFill>
                  <a:srgbClr val="E5DCE6"/>
                </a:solidFill>
                <a:latin typeface="Bricolage Grotesque Extra Bold" pitchFamily="34" charset="0"/>
                <a:ea typeface="Bricolage Grotesque Extra Bold" pitchFamily="34" charset="-122"/>
                <a:cs typeface="Bricolage Grotesque Extra Bold" pitchFamily="34" charset="-120"/>
              </a:rPr>
              <a:t> Cleaning</a:t>
            </a:r>
            <a:endParaRPr lang="en-US" sz="2000" dirty="0"/>
          </a:p>
        </p:txBody>
      </p:sp>
      <p:sp>
        <p:nvSpPr>
          <p:cNvPr id="6" name="Text 2"/>
          <p:cNvSpPr/>
          <p:nvPr/>
        </p:nvSpPr>
        <p:spPr>
          <a:xfrm>
            <a:off x="1938814" y="2227421"/>
            <a:ext cx="6490930" cy="6529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dirty="0">
                <a:solidFill>
                  <a:srgbClr val="E5DC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Handle missing values, remove duplicates, standardize text formats, and validate ranges.</a:t>
            </a:r>
            <a:endParaRPr lang="en-US" dirty="0"/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4256" y="3194744"/>
            <a:ext cx="1020485" cy="1502331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1938814" y="3288506"/>
            <a:ext cx="2551271" cy="318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200" b="1" dirty="0">
                <a:solidFill>
                  <a:srgbClr val="E5DCE6"/>
                </a:solidFill>
                <a:latin typeface="Montserrat "/>
                <a:ea typeface="Bricolage Grotesque Extra Bold" pitchFamily="34" charset="-122"/>
                <a:cs typeface="Bricolage Grotesque Extra Bold" pitchFamily="34" charset="-120"/>
              </a:rPr>
              <a:t>Encoding</a:t>
            </a:r>
            <a:endParaRPr lang="en-US" sz="2200" dirty="0">
              <a:latin typeface="Montserrat "/>
            </a:endParaRPr>
          </a:p>
        </p:txBody>
      </p:sp>
      <p:sp>
        <p:nvSpPr>
          <p:cNvPr id="9" name="Text 4"/>
          <p:cNvSpPr/>
          <p:nvPr/>
        </p:nvSpPr>
        <p:spPr>
          <a:xfrm>
            <a:off x="1938814" y="3729752"/>
            <a:ext cx="6490930" cy="6529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dirty="0">
                <a:solidFill>
                  <a:srgbClr val="E5DC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Apply Label Encoding to ordinal features and One-Hot Encoding to nominal categories.</a:t>
            </a:r>
            <a:endParaRPr lang="en-US" dirty="0"/>
          </a:p>
        </p:txBody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98361" y="4807386"/>
            <a:ext cx="1020485" cy="1502331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1938814" y="4790837"/>
            <a:ext cx="2551271" cy="318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b="1" dirty="0">
                <a:solidFill>
                  <a:srgbClr val="E5DCE6"/>
                </a:solidFill>
                <a:latin typeface="Bricolage Grotesque Extra Bold" pitchFamily="34" charset="0"/>
                <a:ea typeface="Bricolage Grotesque Extra Bold" pitchFamily="34" charset="-122"/>
                <a:cs typeface="Bricolage Grotesque Extra Bold" pitchFamily="34" charset="-120"/>
              </a:rPr>
              <a:t>Scaling</a:t>
            </a:r>
            <a:endParaRPr lang="en-US" sz="2000" dirty="0"/>
          </a:p>
        </p:txBody>
      </p:sp>
      <p:sp>
        <p:nvSpPr>
          <p:cNvPr id="12" name="Text 6"/>
          <p:cNvSpPr/>
          <p:nvPr/>
        </p:nvSpPr>
        <p:spPr>
          <a:xfrm>
            <a:off x="1938814" y="5232083"/>
            <a:ext cx="6490930" cy="6529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dirty="0">
                <a:solidFill>
                  <a:srgbClr val="E5DC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Normalize numerical features using StandardScaler for consistent model input.</a:t>
            </a:r>
            <a:endParaRPr lang="en-US" dirty="0"/>
          </a:p>
        </p:txBody>
      </p:sp>
      <p:pic>
        <p:nvPicPr>
          <p:cNvPr id="13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14256" y="6309716"/>
            <a:ext cx="1020485" cy="1502331"/>
          </a:xfrm>
          <a:prstGeom prst="rect">
            <a:avLst/>
          </a:prstGeom>
        </p:spPr>
      </p:pic>
      <p:sp>
        <p:nvSpPr>
          <p:cNvPr id="14" name="Text 7"/>
          <p:cNvSpPr/>
          <p:nvPr/>
        </p:nvSpPr>
        <p:spPr>
          <a:xfrm>
            <a:off x="1938814" y="6293167"/>
            <a:ext cx="2551271" cy="318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200" b="1" dirty="0">
                <a:solidFill>
                  <a:srgbClr val="E5DCE6"/>
                </a:solidFill>
                <a:latin typeface="Montserrat "/>
                <a:ea typeface="Bricolage Grotesque Extra Bold" pitchFamily="34" charset="-122"/>
                <a:cs typeface="Bricolage Grotesque Extra Bold" pitchFamily="34" charset="-120"/>
              </a:rPr>
              <a:t>Validation</a:t>
            </a:r>
            <a:endParaRPr lang="en-US" sz="2200" dirty="0">
              <a:latin typeface="Montserrat "/>
            </a:endParaRPr>
          </a:p>
        </p:txBody>
      </p:sp>
      <p:sp>
        <p:nvSpPr>
          <p:cNvPr id="15" name="Text 8"/>
          <p:cNvSpPr/>
          <p:nvPr/>
        </p:nvSpPr>
        <p:spPr>
          <a:xfrm>
            <a:off x="1938814" y="6734413"/>
            <a:ext cx="6490930" cy="6529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dirty="0">
                <a:solidFill>
                  <a:srgbClr val="E5DC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Verify data integrity and save preprocessed dataset for model training.</a:t>
            </a:r>
            <a:endParaRPr lang="en-US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86169" y="919620"/>
            <a:ext cx="5685711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00" b="1" dirty="0">
                <a:solidFill>
                  <a:srgbClr val="EEAEF6"/>
                </a:solidFill>
                <a:latin typeface="Montserrat "/>
                <a:ea typeface="Bricolage Grotesque Extra Bold" pitchFamily="34" charset="-122"/>
                <a:cs typeface="Bricolage Grotesque Extra Bold" pitchFamily="34" charset="-120"/>
              </a:rPr>
              <a:t>Feature Engineering</a:t>
            </a:r>
            <a:endParaRPr lang="en-US" sz="4400" dirty="0">
              <a:latin typeface="Montserrat "/>
            </a:endParaRPr>
          </a:p>
        </p:txBody>
      </p:sp>
      <p:sp>
        <p:nvSpPr>
          <p:cNvPr id="3" name="Text 1"/>
          <p:cNvSpPr/>
          <p:nvPr/>
        </p:nvSpPr>
        <p:spPr>
          <a:xfrm>
            <a:off x="786169" y="2112516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dirty="0">
                <a:solidFill>
                  <a:srgbClr val="E5DC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Derived features that capture temporal and behavioral patterns critical to accident severity.</a:t>
            </a: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793790" y="3217966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E5DCE6"/>
                </a:solidFill>
                <a:latin typeface="Montserrat "/>
                <a:ea typeface="Bricolage Grotesque Extra Bold" pitchFamily="34" charset="-122"/>
                <a:cs typeface="Bricolage Grotesque Extra Bold" pitchFamily="34" charset="-120"/>
              </a:rPr>
              <a:t>Hour</a:t>
            </a:r>
            <a:endParaRPr lang="en-US" sz="2200" dirty="0">
              <a:latin typeface="Montserrat "/>
            </a:endParaRPr>
          </a:p>
        </p:txBody>
      </p:sp>
      <p:sp>
        <p:nvSpPr>
          <p:cNvPr id="5" name="Text 3"/>
          <p:cNvSpPr/>
          <p:nvPr/>
        </p:nvSpPr>
        <p:spPr>
          <a:xfrm>
            <a:off x="786169" y="3941954"/>
            <a:ext cx="3048000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5DC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Extracted from time data (0-23) to </a:t>
            </a:r>
            <a:r>
              <a:rPr lang="en-US" dirty="0">
                <a:solidFill>
                  <a:srgbClr val="E5DC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detect</a:t>
            </a:r>
            <a:r>
              <a:rPr lang="en-US" sz="1750" dirty="0">
                <a:solidFill>
                  <a:srgbClr val="E5DC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peak accident hours and visibility patterns.</a:t>
            </a:r>
            <a:endParaRPr lang="en-US" sz="1750" dirty="0"/>
          </a:p>
        </p:txBody>
      </p:sp>
      <p:sp>
        <p:nvSpPr>
          <p:cNvPr id="6" name="Text 4"/>
          <p:cNvSpPr/>
          <p:nvPr/>
        </p:nvSpPr>
        <p:spPr>
          <a:xfrm>
            <a:off x="4125278" y="3223753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E5DCE6"/>
                </a:solidFill>
                <a:latin typeface="Montserrat "/>
                <a:ea typeface="Bricolage Grotesque Extra Bold" pitchFamily="34" charset="-122"/>
                <a:cs typeface="Bricolage Grotesque Extra Bold" pitchFamily="34" charset="-120"/>
              </a:rPr>
              <a:t>Day or Night</a:t>
            </a:r>
            <a:endParaRPr lang="en-US" sz="2200" dirty="0">
              <a:latin typeface="Montserrat "/>
            </a:endParaRPr>
          </a:p>
        </p:txBody>
      </p:sp>
      <p:sp>
        <p:nvSpPr>
          <p:cNvPr id="7" name="Text 5"/>
          <p:cNvSpPr/>
          <p:nvPr/>
        </p:nvSpPr>
        <p:spPr>
          <a:xfrm>
            <a:off x="4117657" y="3943535"/>
            <a:ext cx="3048119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5DC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Binary classification (6AM-6PM = Day) capturing lighting conditions </a:t>
            </a:r>
            <a:r>
              <a:rPr lang="en-US" dirty="0">
                <a:solidFill>
                  <a:srgbClr val="E5DC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affecting</a:t>
            </a:r>
            <a:r>
              <a:rPr lang="en-US" sz="1750" dirty="0">
                <a:solidFill>
                  <a:srgbClr val="E5DC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severity.</a:t>
            </a:r>
            <a:endParaRPr lang="en-US" sz="1750" dirty="0"/>
          </a:p>
        </p:txBody>
      </p:sp>
      <p:sp>
        <p:nvSpPr>
          <p:cNvPr id="8" name="Text 6"/>
          <p:cNvSpPr/>
          <p:nvPr/>
        </p:nvSpPr>
        <p:spPr>
          <a:xfrm>
            <a:off x="7456884" y="3216468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E5DCE6"/>
                </a:solidFill>
                <a:latin typeface="Montserrat "/>
                <a:ea typeface="Bricolage Grotesque Extra Bold" pitchFamily="34" charset="-122"/>
                <a:cs typeface="Bricolage Grotesque Extra Bold" pitchFamily="34" charset="-120"/>
              </a:rPr>
              <a:t>Is Weekend</a:t>
            </a:r>
            <a:endParaRPr lang="en-US" sz="2200" dirty="0">
              <a:latin typeface="Montserrat "/>
            </a:endParaRPr>
          </a:p>
        </p:txBody>
      </p:sp>
      <p:sp>
        <p:nvSpPr>
          <p:cNvPr id="9" name="Text 7"/>
          <p:cNvSpPr/>
          <p:nvPr/>
        </p:nvSpPr>
        <p:spPr>
          <a:xfrm>
            <a:off x="7350441" y="3956690"/>
            <a:ext cx="3048119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dirty="0">
                <a:solidFill>
                  <a:srgbClr val="E5DC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Weekend indicator (1/0) revealing behavioral differences in driving patterns.</a:t>
            </a: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10788372" y="3223753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E5DCE6"/>
                </a:solidFill>
                <a:latin typeface="Montserrat "/>
                <a:ea typeface="Bricolage Grotesque Extra Bold" pitchFamily="34" charset="-122"/>
                <a:cs typeface="Bricolage Grotesque Extra Bold" pitchFamily="34" charset="-120"/>
              </a:rPr>
              <a:t>Speed Category</a:t>
            </a:r>
            <a:endParaRPr lang="en-US" sz="2200" dirty="0">
              <a:latin typeface="Montserrat "/>
            </a:endParaRPr>
          </a:p>
        </p:txBody>
      </p:sp>
      <p:sp>
        <p:nvSpPr>
          <p:cNvPr id="11" name="Text 9"/>
          <p:cNvSpPr/>
          <p:nvPr/>
        </p:nvSpPr>
        <p:spPr>
          <a:xfrm>
            <a:off x="10780871" y="3956690"/>
            <a:ext cx="3048119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dirty="0">
                <a:solidFill>
                  <a:srgbClr val="E5DC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Binned into Low/Moderate/High (0-40, 40-80, 80-120 km/h) as risk factor.</a:t>
            </a:r>
            <a:endParaRPr lang="en-US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30466" y="1422975"/>
            <a:ext cx="7740134" cy="5669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450"/>
              </a:lnSpc>
              <a:buNone/>
            </a:pPr>
            <a:r>
              <a:rPr lang="en-US" sz="3550" b="1" dirty="0">
                <a:solidFill>
                  <a:srgbClr val="EEAEF6"/>
                </a:solidFill>
                <a:latin typeface="Montserrat "/>
                <a:ea typeface="Bricolage Grotesque Extra Bold" pitchFamily="34" charset="-122"/>
                <a:cs typeface="Bricolage Grotesque Extra Bold" pitchFamily="34" charset="-120"/>
              </a:rPr>
              <a:t>Severity Classification Framework</a:t>
            </a:r>
            <a:endParaRPr lang="en-US" sz="3550" dirty="0">
              <a:latin typeface="Montserrat "/>
            </a:endParaRPr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78348" y="2684502"/>
            <a:ext cx="2152055" cy="807958"/>
          </a:xfrm>
          <a:prstGeom prst="rect">
            <a:avLst/>
          </a:prstGeom>
        </p:spPr>
      </p:pic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894892" y="3016091"/>
            <a:ext cx="318968" cy="318968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5357217" y="2911316"/>
            <a:ext cx="1584603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E5DCE6"/>
                </a:solidFill>
                <a:latin typeface="Bricolage Grotesque Extra Bold" pitchFamily="34" charset="0"/>
                <a:ea typeface="Bricolage Grotesque Extra Bold" pitchFamily="34" charset="-122"/>
                <a:cs typeface="Bricolage Grotesque Extra Bold" pitchFamily="34" charset="-120"/>
              </a:rPr>
              <a:t>Fatal </a:t>
            </a:r>
            <a:r>
              <a:rPr lang="en-US" sz="2200" b="1" dirty="0">
                <a:solidFill>
                  <a:srgbClr val="E5DCE6"/>
                </a:solidFill>
                <a:latin typeface="Montserrat "/>
                <a:ea typeface="Bricolage Grotesque Extra Bold" pitchFamily="34" charset="-122"/>
                <a:cs typeface="Bricolage Grotesque Extra Bold" pitchFamily="34" charset="-120"/>
              </a:rPr>
              <a:t>Injury</a:t>
            </a:r>
            <a:endParaRPr lang="en-US" sz="2200" dirty="0">
              <a:latin typeface="Montserrat "/>
            </a:endParaRPr>
          </a:p>
        </p:txBody>
      </p:sp>
      <p:sp>
        <p:nvSpPr>
          <p:cNvPr id="6" name="Shape 2"/>
          <p:cNvSpPr/>
          <p:nvPr/>
        </p:nvSpPr>
        <p:spPr>
          <a:xfrm>
            <a:off x="5187077" y="3505557"/>
            <a:ext cx="8592860" cy="15240"/>
          </a:xfrm>
          <a:prstGeom prst="roundRect">
            <a:avLst>
              <a:gd name="adj" fmla="val 625116"/>
            </a:avLst>
          </a:prstGeom>
          <a:solidFill>
            <a:srgbClr val="414677"/>
          </a:solidFill>
          <a:ln/>
        </p:spPr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902381" y="3549134"/>
            <a:ext cx="4304109" cy="807958"/>
          </a:xfrm>
          <a:prstGeom prst="rect">
            <a:avLst/>
          </a:prstGeom>
        </p:spPr>
      </p:pic>
      <p:pic>
        <p:nvPicPr>
          <p:cNvPr id="8" name="Image 3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3894892" y="3793569"/>
            <a:ext cx="318968" cy="318968"/>
          </a:xfrm>
          <a:prstGeom prst="rect">
            <a:avLst/>
          </a:prstGeom>
        </p:spPr>
      </p:pic>
      <p:sp>
        <p:nvSpPr>
          <p:cNvPr id="9" name="Text 3"/>
          <p:cNvSpPr/>
          <p:nvPr/>
        </p:nvSpPr>
        <p:spPr>
          <a:xfrm>
            <a:off x="6433304" y="3775948"/>
            <a:ext cx="1960126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E5DCE6"/>
                </a:solidFill>
                <a:latin typeface="Montserrat "/>
                <a:ea typeface="Bricolage Grotesque Extra Bold" pitchFamily="34" charset="-122"/>
                <a:cs typeface="Bricolage Grotesque Extra Bold" pitchFamily="34" charset="-120"/>
              </a:rPr>
              <a:t>Serious</a:t>
            </a:r>
            <a:r>
              <a:rPr lang="en-US" sz="2200" b="1" dirty="0">
                <a:solidFill>
                  <a:srgbClr val="E5DCE6"/>
                </a:solidFill>
                <a:latin typeface="Bricolage Grotesque Extra Bold" pitchFamily="34" charset="0"/>
                <a:ea typeface="Bricolage Grotesque Extra Bold" pitchFamily="34" charset="-122"/>
                <a:cs typeface="Bricolage Grotesque Extra Bold" pitchFamily="34" charset="-120"/>
              </a:rPr>
              <a:t> Injury</a:t>
            </a:r>
            <a:endParaRPr lang="en-US" sz="2200" dirty="0"/>
          </a:p>
        </p:txBody>
      </p:sp>
      <p:sp>
        <p:nvSpPr>
          <p:cNvPr id="10" name="Shape 4"/>
          <p:cNvSpPr/>
          <p:nvPr/>
        </p:nvSpPr>
        <p:spPr>
          <a:xfrm>
            <a:off x="6263164" y="4370189"/>
            <a:ext cx="7516773" cy="15240"/>
          </a:xfrm>
          <a:prstGeom prst="roundRect">
            <a:avLst>
              <a:gd name="adj" fmla="val 625116"/>
            </a:avLst>
          </a:prstGeom>
          <a:solidFill>
            <a:srgbClr val="414677"/>
          </a:solidFill>
          <a:ln/>
        </p:spPr>
      </p:sp>
      <p:pic>
        <p:nvPicPr>
          <p:cNvPr id="11" name="Image 4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26294" y="4413766"/>
            <a:ext cx="6456164" cy="807958"/>
          </a:xfrm>
          <a:prstGeom prst="rect">
            <a:avLst/>
          </a:prstGeom>
        </p:spPr>
      </p:pic>
      <p:pic>
        <p:nvPicPr>
          <p:cNvPr id="12" name="Image 5" descr="preencoded.png"/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3894773" y="4658201"/>
            <a:ext cx="318968" cy="318968"/>
          </a:xfrm>
          <a:prstGeom prst="rect">
            <a:avLst/>
          </a:prstGeom>
        </p:spPr>
      </p:pic>
      <p:sp>
        <p:nvSpPr>
          <p:cNvPr id="13" name="Text 5"/>
          <p:cNvSpPr/>
          <p:nvPr/>
        </p:nvSpPr>
        <p:spPr>
          <a:xfrm>
            <a:off x="7509272" y="4640580"/>
            <a:ext cx="1707594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E5DCE6"/>
                </a:solidFill>
                <a:latin typeface="Bricolage Grotesque Extra Bold" pitchFamily="34" charset="0"/>
                <a:ea typeface="Bricolage Grotesque Extra Bold" pitchFamily="34" charset="-122"/>
                <a:cs typeface="Bricolage Grotesque Extra Bold" pitchFamily="34" charset="-120"/>
              </a:rPr>
              <a:t>Slight Injury</a:t>
            </a:r>
            <a:endParaRPr lang="en-US" sz="2200" dirty="0"/>
          </a:p>
        </p:txBody>
      </p:sp>
      <p:sp>
        <p:nvSpPr>
          <p:cNvPr id="14" name="Text 6"/>
          <p:cNvSpPr/>
          <p:nvPr/>
        </p:nvSpPr>
        <p:spPr>
          <a:xfrm>
            <a:off x="793790" y="5689461"/>
            <a:ext cx="13042821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dirty="0">
                <a:solidFill>
                  <a:srgbClr val="E5DC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Our three-tier classification system aligns with international accident reporting standards. Fatal injuries require immediate multi-agency response, serious injuries need rapid hospital transport, while slight injuries can be managed with standard emergency protocols. The ML model learns these distinctions from historical patterns.</a:t>
            </a:r>
            <a:endParaRPr lang="en-US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0314" y="479584"/>
            <a:ext cx="6371868" cy="544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250"/>
              </a:lnSpc>
              <a:buNone/>
            </a:pPr>
            <a:r>
              <a:rPr lang="en-US" sz="3400" b="1" dirty="0">
                <a:solidFill>
                  <a:srgbClr val="EEAEF6"/>
                </a:solidFill>
                <a:latin typeface="Montserrat "/>
                <a:ea typeface="Bricolage Grotesque Extra Bold" pitchFamily="34" charset="-122"/>
                <a:cs typeface="Bricolage Grotesque Extra Bold" pitchFamily="34" charset="-120"/>
              </a:rPr>
              <a:t>Model Training &amp; Comparison</a:t>
            </a:r>
            <a:endParaRPr lang="en-US" sz="3400" dirty="0">
              <a:latin typeface="Montserrat "/>
            </a:endParaRPr>
          </a:p>
        </p:txBody>
      </p:sp>
      <p:sp>
        <p:nvSpPr>
          <p:cNvPr id="3" name="Text 1"/>
          <p:cNvSpPr/>
          <p:nvPr/>
        </p:nvSpPr>
        <p:spPr>
          <a:xfrm>
            <a:off x="610314" y="1378148"/>
            <a:ext cx="2615922" cy="3269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2050" b="1" dirty="0">
                <a:solidFill>
                  <a:srgbClr val="EEAEF6"/>
                </a:solidFill>
                <a:latin typeface="Montserrat "/>
                <a:ea typeface="Bricolage Grotesque Extra Bold" pitchFamily="34" charset="-122"/>
                <a:cs typeface="Bricolage Grotesque Extra Bold" pitchFamily="34" charset="-120"/>
              </a:rPr>
              <a:t>Algorithms</a:t>
            </a:r>
            <a:r>
              <a:rPr lang="en-US" sz="2050" b="1" dirty="0">
                <a:solidFill>
                  <a:srgbClr val="EEAEF6"/>
                </a:solidFill>
                <a:latin typeface="Bricolage Grotesque Extra Bold" pitchFamily="34" charset="0"/>
                <a:ea typeface="Bricolage Grotesque Extra Bold" pitchFamily="34" charset="-122"/>
                <a:cs typeface="Bricolage Grotesque Extra Bold" pitchFamily="34" charset="-120"/>
              </a:rPr>
              <a:t> Tested</a:t>
            </a:r>
            <a:endParaRPr lang="en-US" sz="2050" dirty="0"/>
          </a:p>
        </p:txBody>
      </p:sp>
      <p:sp>
        <p:nvSpPr>
          <p:cNvPr id="4" name="Text 2"/>
          <p:cNvSpPr/>
          <p:nvPr/>
        </p:nvSpPr>
        <p:spPr>
          <a:xfrm>
            <a:off x="610314" y="1983462"/>
            <a:ext cx="174308" cy="2178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350" dirty="0">
                <a:solidFill>
                  <a:srgbClr val="E5DCE6"/>
                </a:solidFill>
                <a:latin typeface="Montserrat "/>
                <a:ea typeface="Bricolage Grotesque Light" pitchFamily="34" charset="-122"/>
                <a:cs typeface="Bricolage Grotesque Light" pitchFamily="34" charset="-120"/>
              </a:rPr>
              <a:t>01</a:t>
            </a:r>
            <a:endParaRPr lang="en-US" sz="1350" dirty="0">
              <a:latin typeface="Montserrat "/>
            </a:endParaRPr>
          </a:p>
        </p:txBody>
      </p:sp>
      <p:sp>
        <p:nvSpPr>
          <p:cNvPr id="5" name="Shape 3"/>
          <p:cNvSpPr/>
          <p:nvPr/>
        </p:nvSpPr>
        <p:spPr>
          <a:xfrm>
            <a:off x="610314" y="2256830"/>
            <a:ext cx="6492121" cy="22860"/>
          </a:xfrm>
          <a:prstGeom prst="rect">
            <a:avLst/>
          </a:prstGeom>
          <a:solidFill>
            <a:srgbClr val="EEAEF6"/>
          </a:solidFill>
          <a:ln/>
        </p:spPr>
      </p:sp>
      <p:sp>
        <p:nvSpPr>
          <p:cNvPr id="6" name="Text 4"/>
          <p:cNvSpPr/>
          <p:nvPr/>
        </p:nvSpPr>
        <p:spPr>
          <a:xfrm>
            <a:off x="610314" y="2389703"/>
            <a:ext cx="2179915" cy="2724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700" b="1" dirty="0">
                <a:solidFill>
                  <a:srgbClr val="E5DCE6"/>
                </a:solidFill>
                <a:latin typeface="Bricolage Grotesque Extra Bold" pitchFamily="34" charset="0"/>
                <a:ea typeface="Bricolage Grotesque Extra Bold" pitchFamily="34" charset="-122"/>
                <a:cs typeface="Bricolage Grotesque Extra Bold" pitchFamily="34" charset="-120"/>
              </a:rPr>
              <a:t>Random Forest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610314" y="2836426"/>
            <a:ext cx="6492121" cy="2790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350" dirty="0">
                <a:solidFill>
                  <a:srgbClr val="E5DC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Ensemble of decision trees with averaging to reduce overfitting.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610314" y="3420547"/>
            <a:ext cx="174308" cy="2178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350" dirty="0">
                <a:solidFill>
                  <a:srgbClr val="E5DCE6"/>
                </a:solidFill>
                <a:latin typeface="Bricolage Grotesque Light" pitchFamily="34" charset="0"/>
                <a:ea typeface="Bricolage Grotesque Light" pitchFamily="34" charset="-122"/>
                <a:cs typeface="Bricolage Grotesque Light" pitchFamily="34" charset="-120"/>
              </a:rPr>
              <a:t>02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610314" y="3693914"/>
            <a:ext cx="6492121" cy="22860"/>
          </a:xfrm>
          <a:prstGeom prst="rect">
            <a:avLst/>
          </a:prstGeom>
          <a:solidFill>
            <a:srgbClr val="EEAEF6"/>
          </a:solidFill>
          <a:ln/>
        </p:spPr>
      </p:sp>
      <p:sp>
        <p:nvSpPr>
          <p:cNvPr id="10" name="Text 8"/>
          <p:cNvSpPr/>
          <p:nvPr/>
        </p:nvSpPr>
        <p:spPr>
          <a:xfrm>
            <a:off x="610314" y="3826788"/>
            <a:ext cx="2179915" cy="2724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700" b="1" dirty="0">
                <a:solidFill>
                  <a:srgbClr val="E5DCE6"/>
                </a:solidFill>
                <a:latin typeface="Montserrat "/>
                <a:ea typeface="Bricolage Grotesque Extra Bold" pitchFamily="34" charset="-122"/>
                <a:cs typeface="Bricolage Grotesque Extra Bold" pitchFamily="34" charset="-120"/>
              </a:rPr>
              <a:t>XGBoost</a:t>
            </a:r>
            <a:endParaRPr lang="en-US" sz="1700" dirty="0">
              <a:latin typeface="Montserrat "/>
            </a:endParaRPr>
          </a:p>
        </p:txBody>
      </p:sp>
      <p:sp>
        <p:nvSpPr>
          <p:cNvPr id="11" name="Text 9"/>
          <p:cNvSpPr/>
          <p:nvPr/>
        </p:nvSpPr>
        <p:spPr>
          <a:xfrm>
            <a:off x="610314" y="4273510"/>
            <a:ext cx="6492121" cy="2790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350" dirty="0">
                <a:solidFill>
                  <a:srgbClr val="E5DC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Gradient boosting with regularization for high accuracy.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610314" y="4857631"/>
            <a:ext cx="174308" cy="2178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350" dirty="0">
                <a:solidFill>
                  <a:srgbClr val="E5DCE6"/>
                </a:solidFill>
                <a:latin typeface="Montserrat "/>
                <a:ea typeface="Bricolage Grotesque Light" pitchFamily="34" charset="-122"/>
                <a:cs typeface="Bricolage Grotesque Light" pitchFamily="34" charset="-120"/>
              </a:rPr>
              <a:t>03</a:t>
            </a:r>
            <a:endParaRPr lang="en-US" sz="1350" dirty="0">
              <a:latin typeface="Montserrat 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610314" y="5130998"/>
            <a:ext cx="6492121" cy="22860"/>
          </a:xfrm>
          <a:prstGeom prst="rect">
            <a:avLst/>
          </a:prstGeom>
          <a:solidFill>
            <a:srgbClr val="EEAEF6"/>
          </a:solidFill>
          <a:ln/>
        </p:spPr>
      </p:sp>
      <p:sp>
        <p:nvSpPr>
          <p:cNvPr id="14" name="Text 12"/>
          <p:cNvSpPr/>
          <p:nvPr/>
        </p:nvSpPr>
        <p:spPr>
          <a:xfrm>
            <a:off x="610314" y="5263872"/>
            <a:ext cx="2179915" cy="2724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700" b="1" dirty="0">
                <a:solidFill>
                  <a:srgbClr val="E5DCE6"/>
                </a:solidFill>
                <a:latin typeface="Montserrat "/>
                <a:ea typeface="Bricolage Grotesque Extra Bold" pitchFamily="34" charset="-122"/>
                <a:cs typeface="Bricolage Grotesque Extra Bold" pitchFamily="34" charset="-120"/>
              </a:rPr>
              <a:t>CatBoost</a:t>
            </a:r>
            <a:endParaRPr lang="en-US" sz="1700" dirty="0">
              <a:latin typeface="Montserrat 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610314" y="5710595"/>
            <a:ext cx="6492121" cy="2790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350" dirty="0">
                <a:solidFill>
                  <a:srgbClr val="E5DC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Optimized for categorical data with ordered boosting.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610314" y="6294715"/>
            <a:ext cx="174308" cy="2178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350" dirty="0">
                <a:solidFill>
                  <a:srgbClr val="E5DCE6"/>
                </a:solidFill>
                <a:latin typeface="Bricolage Grotesque Light" pitchFamily="34" charset="0"/>
                <a:ea typeface="Bricolage Grotesque Light" pitchFamily="34" charset="-122"/>
                <a:cs typeface="Bricolage Grotesque Light" pitchFamily="34" charset="-120"/>
              </a:rPr>
              <a:t>04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610314" y="6568083"/>
            <a:ext cx="6492121" cy="22860"/>
          </a:xfrm>
          <a:prstGeom prst="rect">
            <a:avLst/>
          </a:prstGeom>
          <a:solidFill>
            <a:srgbClr val="EEAEF6"/>
          </a:solidFill>
          <a:ln/>
        </p:spPr>
      </p:sp>
      <p:sp>
        <p:nvSpPr>
          <p:cNvPr id="18" name="Text 16"/>
          <p:cNvSpPr/>
          <p:nvPr/>
        </p:nvSpPr>
        <p:spPr>
          <a:xfrm>
            <a:off x="610314" y="6700957"/>
            <a:ext cx="2179915" cy="2724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700" b="1" dirty="0">
                <a:solidFill>
                  <a:srgbClr val="E5DCE6"/>
                </a:solidFill>
                <a:latin typeface="Bricolage Grotesque Extra Bold" pitchFamily="34" charset="0"/>
                <a:ea typeface="Bricolage Grotesque Extra Bold" pitchFamily="34" charset="-122"/>
                <a:cs typeface="Bricolage Grotesque Extra Bold" pitchFamily="34" charset="-120"/>
              </a:rPr>
              <a:t>Gradient </a:t>
            </a:r>
            <a:r>
              <a:rPr lang="en-US" sz="1700" b="1" dirty="0">
                <a:solidFill>
                  <a:srgbClr val="E5DCE6"/>
                </a:solidFill>
                <a:latin typeface="Montserrat "/>
                <a:ea typeface="Bricolage Grotesque Extra Bold" pitchFamily="34" charset="-122"/>
                <a:cs typeface="Bricolage Grotesque Extra Bold" pitchFamily="34" charset="-120"/>
              </a:rPr>
              <a:t>Boosting</a:t>
            </a:r>
            <a:endParaRPr lang="en-US" sz="1700" dirty="0">
              <a:latin typeface="Montserrat 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610314" y="7147679"/>
            <a:ext cx="6492121" cy="2790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350" dirty="0">
                <a:solidFill>
                  <a:srgbClr val="E5DC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Sequential tree building correcting residual errors.</a:t>
            </a:r>
            <a:endParaRPr lang="en-US" sz="1350" dirty="0"/>
          </a:p>
        </p:txBody>
      </p:sp>
      <p:pic>
        <p:nvPicPr>
          <p:cNvPr id="2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35585" y="1482209"/>
            <a:ext cx="6492121" cy="3635573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76072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13634" y="830937"/>
            <a:ext cx="7689533" cy="25972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200"/>
              </a:lnSpc>
              <a:buNone/>
            </a:pPr>
            <a:r>
              <a:rPr lang="en-US" sz="8150" b="1" dirty="0">
                <a:solidFill>
                  <a:srgbClr val="EEAEF6"/>
                </a:solidFill>
                <a:latin typeface="Montserrat "/>
                <a:ea typeface="Bricolage Grotesque Extra Bold" pitchFamily="34" charset="-122"/>
                <a:cs typeface="Bricolage Grotesque Extra Bold" pitchFamily="34" charset="-120"/>
              </a:rPr>
              <a:t>94.78</a:t>
            </a:r>
            <a:r>
              <a:rPr lang="en-US" sz="8150" b="1" dirty="0">
                <a:solidFill>
                  <a:srgbClr val="EEAEF6"/>
                </a:solidFill>
                <a:latin typeface="Bricolage Grotesque Extra Bold" pitchFamily="34" charset="0"/>
                <a:ea typeface="Bricolage Grotesque Extra Bold" pitchFamily="34" charset="-122"/>
                <a:cs typeface="Bricolage Grotesque Extra Bold" pitchFamily="34" charset="-120"/>
              </a:rPr>
              <a:t>% Accuracy</a:t>
            </a:r>
            <a:endParaRPr lang="en-US" sz="8150" dirty="0"/>
          </a:p>
        </p:txBody>
      </p:sp>
      <p:sp>
        <p:nvSpPr>
          <p:cNvPr id="4" name="Text 1"/>
          <p:cNvSpPr/>
          <p:nvPr/>
        </p:nvSpPr>
        <p:spPr>
          <a:xfrm>
            <a:off x="6213634" y="3739753"/>
            <a:ext cx="7279243" cy="5193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050"/>
              </a:lnSpc>
              <a:buNone/>
            </a:pPr>
            <a:r>
              <a:rPr lang="en-US" sz="3250" b="1" dirty="0">
                <a:solidFill>
                  <a:srgbClr val="EEAEF6"/>
                </a:solidFill>
                <a:latin typeface="Bricolage Grotesque Extra Bold" pitchFamily="34" charset="0"/>
                <a:ea typeface="Bricolage Grotesque Extra Bold" pitchFamily="34" charset="-122"/>
                <a:cs typeface="Bricolage Grotesque Extra Bold" pitchFamily="34" charset="-120"/>
              </a:rPr>
              <a:t>Random Forest: The Winning Model</a:t>
            </a:r>
            <a:endParaRPr lang="en-US" sz="3250" dirty="0"/>
          </a:p>
        </p:txBody>
      </p:sp>
      <p:sp>
        <p:nvSpPr>
          <p:cNvPr id="5" name="Text 2"/>
          <p:cNvSpPr/>
          <p:nvPr/>
        </p:nvSpPr>
        <p:spPr>
          <a:xfrm>
            <a:off x="6213634" y="4674513"/>
            <a:ext cx="2390061" cy="6855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5350"/>
              </a:lnSpc>
              <a:buNone/>
            </a:pPr>
            <a:r>
              <a:rPr lang="en-US" sz="5350" b="1" dirty="0">
                <a:solidFill>
                  <a:srgbClr val="E5DCE6"/>
                </a:solidFill>
                <a:latin typeface="Montserrat "/>
                <a:ea typeface="Bricolage Grotesque Extra Bold" pitchFamily="34" charset="-122"/>
                <a:cs typeface="Bricolage Grotesque Extra Bold" pitchFamily="34" charset="-120"/>
              </a:rPr>
              <a:t>95</a:t>
            </a:r>
            <a:r>
              <a:rPr lang="en-US" sz="5350" b="1" dirty="0">
                <a:solidFill>
                  <a:srgbClr val="E5DCE6"/>
                </a:solidFill>
                <a:latin typeface="Bricolage Grotesque Extra Bold" pitchFamily="34" charset="0"/>
                <a:ea typeface="Bricolage Grotesque Extra Bold" pitchFamily="34" charset="-122"/>
                <a:cs typeface="Bricolage Grotesque Extra Bold" pitchFamily="34" charset="-120"/>
              </a:rPr>
              <a:t>%</a:t>
            </a:r>
            <a:endParaRPr lang="en-US" sz="5350" dirty="0"/>
          </a:p>
        </p:txBody>
      </p:sp>
      <p:sp>
        <p:nvSpPr>
          <p:cNvPr id="6" name="Text 3"/>
          <p:cNvSpPr/>
          <p:nvPr/>
        </p:nvSpPr>
        <p:spPr>
          <a:xfrm>
            <a:off x="6213634" y="5619631"/>
            <a:ext cx="2390061" cy="3245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550"/>
              </a:lnSpc>
              <a:buNone/>
            </a:pPr>
            <a:r>
              <a:rPr lang="en-US" sz="2000" b="1" dirty="0">
                <a:solidFill>
                  <a:srgbClr val="E5DCE6"/>
                </a:solidFill>
                <a:latin typeface="Montserrat "/>
                <a:ea typeface="Bricolage Grotesque Extra Bold" pitchFamily="34" charset="-122"/>
                <a:cs typeface="Bricolage Grotesque Extra Bold" pitchFamily="34" charset="-120"/>
              </a:rPr>
              <a:t>Precision</a:t>
            </a:r>
            <a:endParaRPr lang="en-US" sz="2000" dirty="0">
              <a:latin typeface="Montserrat "/>
            </a:endParaRPr>
          </a:p>
        </p:txBody>
      </p:sp>
      <p:sp>
        <p:nvSpPr>
          <p:cNvPr id="7" name="Text 4"/>
          <p:cNvSpPr/>
          <p:nvPr/>
        </p:nvSpPr>
        <p:spPr>
          <a:xfrm>
            <a:off x="6213634" y="6068854"/>
            <a:ext cx="2390061" cy="9972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600"/>
              </a:lnSpc>
              <a:buNone/>
            </a:pPr>
            <a:r>
              <a:rPr lang="en-US" sz="1600" dirty="0">
                <a:solidFill>
                  <a:srgbClr val="E5DC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Correctly identified positive cases across all severity classes.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8863370" y="4674513"/>
            <a:ext cx="2390061" cy="6855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5350"/>
              </a:lnSpc>
              <a:buNone/>
            </a:pPr>
            <a:r>
              <a:rPr lang="en-US" sz="5350" b="1" dirty="0">
                <a:solidFill>
                  <a:srgbClr val="E5DCE6"/>
                </a:solidFill>
                <a:latin typeface="Bricolage Grotesque Extra Bold" pitchFamily="34" charset="0"/>
                <a:ea typeface="Bricolage Grotesque Extra Bold" pitchFamily="34" charset="-122"/>
                <a:cs typeface="Bricolage Grotesque Extra Bold" pitchFamily="34" charset="-120"/>
              </a:rPr>
              <a:t>94%</a:t>
            </a:r>
            <a:endParaRPr lang="en-US" sz="5350" dirty="0"/>
          </a:p>
        </p:txBody>
      </p:sp>
      <p:sp>
        <p:nvSpPr>
          <p:cNvPr id="9" name="Text 6"/>
          <p:cNvSpPr/>
          <p:nvPr/>
        </p:nvSpPr>
        <p:spPr>
          <a:xfrm>
            <a:off x="8863370" y="5619631"/>
            <a:ext cx="2390061" cy="3245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550"/>
              </a:lnSpc>
              <a:buNone/>
            </a:pPr>
            <a:r>
              <a:rPr lang="en-US" sz="2000" b="1" dirty="0">
                <a:solidFill>
                  <a:srgbClr val="E5DCE6"/>
                </a:solidFill>
                <a:latin typeface="Montserrat "/>
                <a:ea typeface="Bricolage Grotesque Extra Bold" pitchFamily="34" charset="-122"/>
                <a:cs typeface="Bricolage Grotesque Extra Bold" pitchFamily="34" charset="-120"/>
              </a:rPr>
              <a:t>Recall</a:t>
            </a:r>
            <a:endParaRPr lang="en-US" sz="2000" dirty="0">
              <a:latin typeface="Montserrat "/>
            </a:endParaRPr>
          </a:p>
        </p:txBody>
      </p:sp>
      <p:sp>
        <p:nvSpPr>
          <p:cNvPr id="10" name="Text 7"/>
          <p:cNvSpPr/>
          <p:nvPr/>
        </p:nvSpPr>
        <p:spPr>
          <a:xfrm>
            <a:off x="8863370" y="6068854"/>
            <a:ext cx="2390061" cy="13296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600"/>
              </a:lnSpc>
              <a:buNone/>
            </a:pPr>
            <a:r>
              <a:rPr lang="en-US" sz="1600" dirty="0">
                <a:solidFill>
                  <a:srgbClr val="E5DC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Successfully captured actual positive instances in the dataset.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11513106" y="4674513"/>
            <a:ext cx="2390061" cy="6855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5350"/>
              </a:lnSpc>
              <a:buNone/>
            </a:pPr>
            <a:r>
              <a:rPr lang="en-US" sz="5350" b="1" dirty="0">
                <a:solidFill>
                  <a:srgbClr val="E5DCE6"/>
                </a:solidFill>
                <a:latin typeface="Bricolage Grotesque Extra Bold" pitchFamily="34" charset="0"/>
                <a:ea typeface="Bricolage Grotesque Extra Bold" pitchFamily="34" charset="-122"/>
                <a:cs typeface="Bricolage Grotesque Extra Bold" pitchFamily="34" charset="-120"/>
              </a:rPr>
              <a:t>94%</a:t>
            </a:r>
            <a:endParaRPr lang="en-US" sz="5350" dirty="0"/>
          </a:p>
        </p:txBody>
      </p:sp>
      <p:sp>
        <p:nvSpPr>
          <p:cNvPr id="12" name="Text 9"/>
          <p:cNvSpPr/>
          <p:nvPr/>
        </p:nvSpPr>
        <p:spPr>
          <a:xfrm>
            <a:off x="11513106" y="5619631"/>
            <a:ext cx="2390061" cy="3245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550"/>
              </a:lnSpc>
              <a:buNone/>
            </a:pPr>
            <a:r>
              <a:rPr lang="en-US" sz="2000" b="1" dirty="0">
                <a:solidFill>
                  <a:srgbClr val="E5DCE6"/>
                </a:solidFill>
                <a:latin typeface="Montserrat "/>
                <a:ea typeface="Bricolage Grotesque Extra Bold" pitchFamily="34" charset="-122"/>
                <a:cs typeface="Bricolage Grotesque Extra Bold" pitchFamily="34" charset="-120"/>
              </a:rPr>
              <a:t>F1-Score</a:t>
            </a:r>
            <a:endParaRPr lang="en-US" sz="2000" dirty="0">
              <a:latin typeface="Montserrat "/>
            </a:endParaRPr>
          </a:p>
        </p:txBody>
      </p:sp>
      <p:sp>
        <p:nvSpPr>
          <p:cNvPr id="13" name="Text 10"/>
          <p:cNvSpPr/>
          <p:nvPr/>
        </p:nvSpPr>
        <p:spPr>
          <a:xfrm>
            <a:off x="11513106" y="6068854"/>
            <a:ext cx="2390061" cy="9972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600"/>
              </a:lnSpc>
              <a:buNone/>
            </a:pPr>
            <a:r>
              <a:rPr lang="en-US" sz="1600" dirty="0">
                <a:solidFill>
                  <a:srgbClr val="E5DC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Balanced performance between precision and recall metrics.</a:t>
            </a:r>
            <a:endParaRPr lang="en-US" sz="1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/>
          <p:cNvPicPr>
            <a:picLocks noChangeAspect="1"/>
          </p:cNvPicPr>
          <p:nvPr/>
        </p:nvPicPr>
        <p:blipFill>
          <a:blip r:embed="rId3"/>
          <a:srcRect t="5337" b="570"/>
          <a:stretch>
            <a:fillRect/>
          </a:stretch>
        </p:blipFill>
        <p:spPr>
          <a:xfrm>
            <a:off x="18514" y="0"/>
            <a:ext cx="576072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142434" y="515422"/>
            <a:ext cx="5148024" cy="5857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600"/>
              </a:lnSpc>
              <a:buNone/>
            </a:pPr>
            <a:r>
              <a:rPr lang="en-US" sz="3650" b="1" dirty="0">
                <a:solidFill>
                  <a:srgbClr val="EEAEF6"/>
                </a:solidFill>
                <a:latin typeface="Montserrat "/>
                <a:ea typeface="Bricolage Grotesque Extra Bold" pitchFamily="34" charset="-122"/>
                <a:cs typeface="Bricolage Grotesque Extra Bold" pitchFamily="34" charset="-120"/>
              </a:rPr>
              <a:t>Flask</a:t>
            </a:r>
            <a:r>
              <a:rPr lang="en-US" sz="3650" b="1" dirty="0">
                <a:solidFill>
                  <a:srgbClr val="EEAEF6"/>
                </a:solidFill>
                <a:latin typeface="Bricolage Grotesque Extra Bold" pitchFamily="34" charset="0"/>
                <a:ea typeface="Bricolage Grotesque Extra Bold" pitchFamily="34" charset="-122"/>
                <a:cs typeface="Bricolage Grotesque Extra Bold" pitchFamily="34" charset="-120"/>
              </a:rPr>
              <a:t> Web Application</a:t>
            </a:r>
            <a:endParaRPr lang="en-US" sz="3650" dirty="0"/>
          </a:p>
        </p:txBody>
      </p:sp>
      <p:sp>
        <p:nvSpPr>
          <p:cNvPr id="4" name="Shape 1"/>
          <p:cNvSpPr/>
          <p:nvPr/>
        </p:nvSpPr>
        <p:spPr>
          <a:xfrm>
            <a:off x="6353294" y="1382316"/>
            <a:ext cx="22860" cy="5101828"/>
          </a:xfrm>
          <a:prstGeom prst="roundRect">
            <a:avLst>
              <a:gd name="adj" fmla="val 344413"/>
            </a:avLst>
          </a:prstGeom>
          <a:solidFill>
            <a:srgbClr val="414677"/>
          </a:solidFill>
          <a:ln/>
        </p:spPr>
      </p:sp>
      <p:sp>
        <p:nvSpPr>
          <p:cNvPr id="5" name="Shape 2"/>
          <p:cNvSpPr/>
          <p:nvPr/>
        </p:nvSpPr>
        <p:spPr>
          <a:xfrm>
            <a:off x="6541294" y="1581745"/>
            <a:ext cx="562332" cy="22860"/>
          </a:xfrm>
          <a:prstGeom prst="roundRect">
            <a:avLst>
              <a:gd name="adj" fmla="val 344413"/>
            </a:avLst>
          </a:prstGeom>
          <a:solidFill>
            <a:srgbClr val="414677"/>
          </a:solidFill>
          <a:ln/>
        </p:spPr>
      </p:sp>
      <p:sp>
        <p:nvSpPr>
          <p:cNvPr id="6" name="Shape 3"/>
          <p:cNvSpPr/>
          <p:nvPr/>
        </p:nvSpPr>
        <p:spPr>
          <a:xfrm>
            <a:off x="6142434" y="1382316"/>
            <a:ext cx="421719" cy="421719"/>
          </a:xfrm>
          <a:prstGeom prst="roundRect">
            <a:avLst>
              <a:gd name="adj" fmla="val 18670"/>
            </a:avLst>
          </a:prstGeom>
          <a:solidFill>
            <a:srgbClr val="282D5E"/>
          </a:solidFill>
          <a:ln/>
        </p:spPr>
      </p:sp>
      <p:sp>
        <p:nvSpPr>
          <p:cNvPr id="7" name="Text 4"/>
          <p:cNvSpPr/>
          <p:nvPr/>
        </p:nvSpPr>
        <p:spPr>
          <a:xfrm>
            <a:off x="6212741" y="1417439"/>
            <a:ext cx="281107" cy="3514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200"/>
              </a:lnSpc>
              <a:buNone/>
            </a:pPr>
            <a:r>
              <a:rPr lang="en-US" sz="2200" b="1" dirty="0">
                <a:solidFill>
                  <a:srgbClr val="E5DCE6"/>
                </a:solidFill>
                <a:latin typeface="Bricolage Grotesque Extra Bold" pitchFamily="34" charset="0"/>
                <a:ea typeface="Bricolage Grotesque Extra Bold" pitchFamily="34" charset="-122"/>
                <a:cs typeface="Bricolage Grotesque Extra Bold" pitchFamily="34" charset="-120"/>
              </a:rPr>
              <a:t>1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7290554" y="1446728"/>
            <a:ext cx="2343150" cy="2928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800" b="1" dirty="0">
                <a:solidFill>
                  <a:srgbClr val="E5DCE6"/>
                </a:solidFill>
                <a:latin typeface="Bricolage Grotesque Extra Bold" pitchFamily="34" charset="0"/>
                <a:ea typeface="Bricolage Grotesque Extra Bold" pitchFamily="34" charset="-122"/>
                <a:cs typeface="Bricolage Grotesque Extra Bold" pitchFamily="34" charset="-120"/>
              </a:rPr>
              <a:t>User </a:t>
            </a:r>
            <a:r>
              <a:rPr lang="en-US" sz="1800" b="1" dirty="0">
                <a:solidFill>
                  <a:srgbClr val="E5DCE6"/>
                </a:solidFill>
                <a:latin typeface="Montserrat "/>
                <a:ea typeface="Bricolage Grotesque Extra Bold" pitchFamily="34" charset="-122"/>
                <a:cs typeface="Bricolage Grotesque Extra Bold" pitchFamily="34" charset="-120"/>
              </a:rPr>
              <a:t>Input</a:t>
            </a:r>
            <a:endParaRPr lang="en-US" sz="1800" dirty="0">
              <a:latin typeface="Montserrat "/>
            </a:endParaRPr>
          </a:p>
        </p:txBody>
      </p:sp>
      <p:sp>
        <p:nvSpPr>
          <p:cNvPr id="9" name="Text 6"/>
          <p:cNvSpPr/>
          <p:nvPr/>
        </p:nvSpPr>
        <p:spPr>
          <a:xfrm>
            <a:off x="7290554" y="1852017"/>
            <a:ext cx="6683812" cy="5995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450" dirty="0">
                <a:solidFill>
                  <a:srgbClr val="E5DC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Web form captures accident parameters: time, weather, speed, road conditions, and driver details.</a:t>
            </a:r>
            <a:endParaRPr lang="en-US" sz="1450" dirty="0"/>
          </a:p>
        </p:txBody>
      </p:sp>
      <p:sp>
        <p:nvSpPr>
          <p:cNvPr id="10" name="Shape 7"/>
          <p:cNvSpPr/>
          <p:nvPr/>
        </p:nvSpPr>
        <p:spPr>
          <a:xfrm>
            <a:off x="6541294" y="3025854"/>
            <a:ext cx="562332" cy="22860"/>
          </a:xfrm>
          <a:prstGeom prst="roundRect">
            <a:avLst>
              <a:gd name="adj" fmla="val 344413"/>
            </a:avLst>
          </a:prstGeom>
          <a:solidFill>
            <a:srgbClr val="414677"/>
          </a:solidFill>
          <a:ln/>
        </p:spPr>
      </p:sp>
      <p:sp>
        <p:nvSpPr>
          <p:cNvPr id="11" name="Shape 8"/>
          <p:cNvSpPr/>
          <p:nvPr/>
        </p:nvSpPr>
        <p:spPr>
          <a:xfrm>
            <a:off x="6142434" y="2826425"/>
            <a:ext cx="421719" cy="421719"/>
          </a:xfrm>
          <a:prstGeom prst="roundRect">
            <a:avLst>
              <a:gd name="adj" fmla="val 18670"/>
            </a:avLst>
          </a:prstGeom>
          <a:solidFill>
            <a:srgbClr val="282D5E"/>
          </a:solidFill>
          <a:ln/>
        </p:spPr>
      </p:sp>
      <p:sp>
        <p:nvSpPr>
          <p:cNvPr id="12" name="Text 9"/>
          <p:cNvSpPr/>
          <p:nvPr/>
        </p:nvSpPr>
        <p:spPr>
          <a:xfrm>
            <a:off x="6212741" y="2861548"/>
            <a:ext cx="281107" cy="3514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200"/>
              </a:lnSpc>
              <a:buNone/>
            </a:pPr>
            <a:r>
              <a:rPr lang="en-US" sz="2200" b="1" dirty="0">
                <a:solidFill>
                  <a:srgbClr val="E5DCE6"/>
                </a:solidFill>
                <a:latin typeface="Bricolage Grotesque Extra Bold" pitchFamily="34" charset="0"/>
                <a:ea typeface="Bricolage Grotesque Extra Bold" pitchFamily="34" charset="-122"/>
                <a:cs typeface="Bricolage Grotesque Extra Bold" pitchFamily="34" charset="-120"/>
              </a:rPr>
              <a:t>2</a:t>
            </a:r>
            <a:endParaRPr lang="en-US" sz="2200" dirty="0"/>
          </a:p>
        </p:txBody>
      </p:sp>
      <p:sp>
        <p:nvSpPr>
          <p:cNvPr id="13" name="Text 10"/>
          <p:cNvSpPr/>
          <p:nvPr/>
        </p:nvSpPr>
        <p:spPr>
          <a:xfrm>
            <a:off x="7290554" y="2890838"/>
            <a:ext cx="2343150" cy="2928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800" b="1" dirty="0">
                <a:solidFill>
                  <a:srgbClr val="E5DCE6"/>
                </a:solidFill>
                <a:latin typeface="Montserrat "/>
                <a:ea typeface="Bricolage Grotesque Extra Bold" pitchFamily="34" charset="-122"/>
                <a:cs typeface="Bricolage Grotesque Extra Bold" pitchFamily="34" charset="-120"/>
              </a:rPr>
              <a:t>Processing</a:t>
            </a:r>
            <a:endParaRPr lang="en-US" sz="1800" dirty="0">
              <a:latin typeface="Montserrat "/>
            </a:endParaRPr>
          </a:p>
        </p:txBody>
      </p:sp>
      <p:sp>
        <p:nvSpPr>
          <p:cNvPr id="14" name="Text 11"/>
          <p:cNvSpPr/>
          <p:nvPr/>
        </p:nvSpPr>
        <p:spPr>
          <a:xfrm>
            <a:off x="7290554" y="3296126"/>
            <a:ext cx="6683812" cy="5995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450" dirty="0">
                <a:solidFill>
                  <a:srgbClr val="E5DC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Backend applies feature engineering, encoding, and scaling using saved preprocessors.</a:t>
            </a:r>
            <a:endParaRPr lang="en-US" sz="1450" dirty="0"/>
          </a:p>
        </p:txBody>
      </p:sp>
      <p:sp>
        <p:nvSpPr>
          <p:cNvPr id="15" name="Shape 12"/>
          <p:cNvSpPr/>
          <p:nvPr/>
        </p:nvSpPr>
        <p:spPr>
          <a:xfrm>
            <a:off x="6541294" y="4469963"/>
            <a:ext cx="562332" cy="22860"/>
          </a:xfrm>
          <a:prstGeom prst="roundRect">
            <a:avLst>
              <a:gd name="adj" fmla="val 344413"/>
            </a:avLst>
          </a:prstGeom>
          <a:solidFill>
            <a:srgbClr val="414677"/>
          </a:solidFill>
          <a:ln/>
        </p:spPr>
      </p:sp>
      <p:sp>
        <p:nvSpPr>
          <p:cNvPr id="16" name="Shape 13"/>
          <p:cNvSpPr/>
          <p:nvPr/>
        </p:nvSpPr>
        <p:spPr>
          <a:xfrm>
            <a:off x="6142434" y="4270534"/>
            <a:ext cx="421719" cy="421719"/>
          </a:xfrm>
          <a:prstGeom prst="roundRect">
            <a:avLst>
              <a:gd name="adj" fmla="val 18670"/>
            </a:avLst>
          </a:prstGeom>
          <a:solidFill>
            <a:srgbClr val="282D5E"/>
          </a:solidFill>
          <a:ln/>
        </p:spPr>
      </p:sp>
      <p:sp>
        <p:nvSpPr>
          <p:cNvPr id="17" name="Text 14"/>
          <p:cNvSpPr/>
          <p:nvPr/>
        </p:nvSpPr>
        <p:spPr>
          <a:xfrm>
            <a:off x="6212741" y="4305657"/>
            <a:ext cx="281107" cy="3514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200"/>
              </a:lnSpc>
              <a:buNone/>
            </a:pPr>
            <a:r>
              <a:rPr lang="en-US" sz="2200" b="1" dirty="0">
                <a:solidFill>
                  <a:srgbClr val="E5DCE6"/>
                </a:solidFill>
                <a:latin typeface="Bricolage Grotesque Extra Bold" pitchFamily="34" charset="0"/>
                <a:ea typeface="Bricolage Grotesque Extra Bold" pitchFamily="34" charset="-122"/>
                <a:cs typeface="Bricolage Grotesque Extra Bold" pitchFamily="34" charset="-120"/>
              </a:rPr>
              <a:t>3</a:t>
            </a:r>
            <a:endParaRPr lang="en-US" sz="2200" dirty="0"/>
          </a:p>
        </p:txBody>
      </p:sp>
      <p:sp>
        <p:nvSpPr>
          <p:cNvPr id="18" name="Text 15"/>
          <p:cNvSpPr/>
          <p:nvPr/>
        </p:nvSpPr>
        <p:spPr>
          <a:xfrm>
            <a:off x="7290554" y="4334947"/>
            <a:ext cx="2343150" cy="2928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800" b="1" dirty="0">
                <a:solidFill>
                  <a:srgbClr val="E5DCE6"/>
                </a:solidFill>
                <a:latin typeface="Montserrat "/>
                <a:ea typeface="Bricolage Grotesque Extra Bold" pitchFamily="34" charset="-122"/>
                <a:cs typeface="Bricolage Grotesque Extra Bold" pitchFamily="34" charset="-120"/>
              </a:rPr>
              <a:t>Prediction</a:t>
            </a:r>
            <a:endParaRPr lang="en-US" sz="1800" dirty="0">
              <a:latin typeface="Montserrat "/>
            </a:endParaRPr>
          </a:p>
        </p:txBody>
      </p:sp>
      <p:sp>
        <p:nvSpPr>
          <p:cNvPr id="19" name="Text 16"/>
          <p:cNvSpPr/>
          <p:nvPr/>
        </p:nvSpPr>
        <p:spPr>
          <a:xfrm>
            <a:off x="7290554" y="4740235"/>
            <a:ext cx="6683812" cy="5995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450" dirty="0">
                <a:solidFill>
                  <a:srgbClr val="E5DC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Random Forest model classifies severity in real-time with instant results.</a:t>
            </a:r>
            <a:endParaRPr lang="en-US" sz="1450" dirty="0"/>
          </a:p>
        </p:txBody>
      </p:sp>
      <p:sp>
        <p:nvSpPr>
          <p:cNvPr id="20" name="Shape 17"/>
          <p:cNvSpPr/>
          <p:nvPr/>
        </p:nvSpPr>
        <p:spPr>
          <a:xfrm>
            <a:off x="6541294" y="5914073"/>
            <a:ext cx="562332" cy="22860"/>
          </a:xfrm>
          <a:prstGeom prst="roundRect">
            <a:avLst>
              <a:gd name="adj" fmla="val 344413"/>
            </a:avLst>
          </a:prstGeom>
          <a:solidFill>
            <a:srgbClr val="414677"/>
          </a:solidFill>
          <a:ln/>
        </p:spPr>
      </p:sp>
      <p:sp>
        <p:nvSpPr>
          <p:cNvPr id="21" name="Shape 18"/>
          <p:cNvSpPr/>
          <p:nvPr/>
        </p:nvSpPr>
        <p:spPr>
          <a:xfrm>
            <a:off x="6142434" y="5714643"/>
            <a:ext cx="421719" cy="421719"/>
          </a:xfrm>
          <a:prstGeom prst="roundRect">
            <a:avLst>
              <a:gd name="adj" fmla="val 18670"/>
            </a:avLst>
          </a:prstGeom>
          <a:solidFill>
            <a:srgbClr val="282D5E"/>
          </a:solidFill>
          <a:ln/>
        </p:spPr>
      </p:sp>
      <p:sp>
        <p:nvSpPr>
          <p:cNvPr id="22" name="Text 19"/>
          <p:cNvSpPr/>
          <p:nvPr/>
        </p:nvSpPr>
        <p:spPr>
          <a:xfrm>
            <a:off x="6212741" y="5749766"/>
            <a:ext cx="281107" cy="3514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200"/>
              </a:lnSpc>
              <a:buNone/>
            </a:pPr>
            <a:r>
              <a:rPr lang="en-US" sz="2200" b="1" dirty="0">
                <a:solidFill>
                  <a:srgbClr val="E5DCE6"/>
                </a:solidFill>
                <a:latin typeface="Bricolage Grotesque Extra Bold" pitchFamily="34" charset="0"/>
                <a:ea typeface="Bricolage Grotesque Extra Bold" pitchFamily="34" charset="-122"/>
                <a:cs typeface="Bricolage Grotesque Extra Bold" pitchFamily="34" charset="-120"/>
              </a:rPr>
              <a:t>4</a:t>
            </a:r>
            <a:endParaRPr lang="en-US" sz="2200" dirty="0"/>
          </a:p>
        </p:txBody>
      </p:sp>
      <p:sp>
        <p:nvSpPr>
          <p:cNvPr id="23" name="Text 20"/>
          <p:cNvSpPr/>
          <p:nvPr/>
        </p:nvSpPr>
        <p:spPr>
          <a:xfrm>
            <a:off x="7290554" y="5779056"/>
            <a:ext cx="2343150" cy="2928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800" b="1" dirty="0">
                <a:solidFill>
                  <a:srgbClr val="E5DCE6"/>
                </a:solidFill>
                <a:latin typeface="Montserrat "/>
                <a:ea typeface="Bricolage Grotesque Extra Bold" pitchFamily="34" charset="-122"/>
                <a:cs typeface="Bricolage Grotesque Extra Bold" pitchFamily="34" charset="-120"/>
              </a:rPr>
              <a:t>Display</a:t>
            </a:r>
            <a:endParaRPr lang="en-US" sz="1800" dirty="0">
              <a:latin typeface="Montserrat "/>
            </a:endParaRPr>
          </a:p>
        </p:txBody>
      </p:sp>
      <p:sp>
        <p:nvSpPr>
          <p:cNvPr id="24" name="Text 21"/>
          <p:cNvSpPr/>
          <p:nvPr/>
        </p:nvSpPr>
        <p:spPr>
          <a:xfrm>
            <a:off x="7290554" y="6184344"/>
            <a:ext cx="6683812" cy="2997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450" dirty="0">
                <a:solidFill>
                  <a:srgbClr val="E5DC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Clear visual output shows predicted severity level to the user.</a:t>
            </a:r>
            <a:endParaRPr lang="en-US" sz="1450" dirty="0"/>
          </a:p>
        </p:txBody>
      </p:sp>
      <p:sp>
        <p:nvSpPr>
          <p:cNvPr id="25" name="Text 22"/>
          <p:cNvSpPr/>
          <p:nvPr/>
        </p:nvSpPr>
        <p:spPr>
          <a:xfrm>
            <a:off x="6423541" y="6905863"/>
            <a:ext cx="7550825" cy="5995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450" dirty="0">
                <a:solidFill>
                  <a:srgbClr val="E5DC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The system processes predictions in </a:t>
            </a:r>
            <a:r>
              <a:rPr lang="en-US" sz="1450" b="1" dirty="0">
                <a:solidFill>
                  <a:srgbClr val="E5DC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milliseconds</a:t>
            </a:r>
            <a:r>
              <a:rPr lang="en-US" sz="1450" dirty="0">
                <a:solidFill>
                  <a:srgbClr val="E5DC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, making it suitable for real-time traffic management applications.</a:t>
            </a:r>
            <a:endParaRPr lang="en-US" sz="1450" dirty="0"/>
          </a:p>
        </p:txBody>
      </p:sp>
      <p:sp>
        <p:nvSpPr>
          <p:cNvPr id="26" name="Shape 23"/>
          <p:cNvSpPr/>
          <p:nvPr/>
        </p:nvSpPr>
        <p:spPr>
          <a:xfrm>
            <a:off x="6142434" y="6695003"/>
            <a:ext cx="22860" cy="1021318"/>
          </a:xfrm>
          <a:prstGeom prst="rect">
            <a:avLst/>
          </a:prstGeom>
          <a:solidFill>
            <a:srgbClr val="EEAEF6"/>
          </a:solidFill>
          <a:ln/>
        </p:spPr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627578"/>
            <a:ext cx="5468114" cy="5669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450"/>
              </a:lnSpc>
              <a:buNone/>
            </a:pPr>
            <a:r>
              <a:rPr lang="en-US" sz="3550" b="1" dirty="0">
                <a:solidFill>
                  <a:srgbClr val="EEAEF6"/>
                </a:solidFill>
                <a:latin typeface="Bricolage Grotesque Extra Bold" pitchFamily="34" charset="0"/>
                <a:ea typeface="Bricolage Grotesque Extra Bold" pitchFamily="34" charset="-122"/>
                <a:cs typeface="Bricolage Grotesque Extra Bold" pitchFamily="34" charset="-120"/>
              </a:rPr>
              <a:t>Impact and Future Scope</a:t>
            </a:r>
            <a:endParaRPr lang="en-US" sz="3550" dirty="0"/>
          </a:p>
        </p:txBody>
      </p:sp>
      <p:sp>
        <p:nvSpPr>
          <p:cNvPr id="4" name="Shape 2"/>
          <p:cNvSpPr/>
          <p:nvPr/>
        </p:nvSpPr>
        <p:spPr>
          <a:xfrm>
            <a:off x="1093782" y="2096352"/>
            <a:ext cx="2400822" cy="45719"/>
          </a:xfrm>
          <a:prstGeom prst="rect">
            <a:avLst/>
          </a:prstGeom>
          <a:solidFill>
            <a:srgbClr val="EEAEF6"/>
          </a:solidFill>
          <a:ln/>
        </p:spPr>
      </p:sp>
      <p:sp>
        <p:nvSpPr>
          <p:cNvPr id="19" name="Shape 17"/>
          <p:cNvSpPr/>
          <p:nvPr/>
        </p:nvSpPr>
        <p:spPr>
          <a:xfrm>
            <a:off x="793790" y="6145096"/>
            <a:ext cx="13042821" cy="35957"/>
          </a:xfrm>
          <a:prstGeom prst="rect">
            <a:avLst/>
          </a:prstGeom>
          <a:solidFill>
            <a:srgbClr val="E5DCE6">
              <a:alpha val="50000"/>
            </a:srgbClr>
          </a:solidFill>
          <a:ln/>
        </p:spPr>
      </p:sp>
      <p:sp>
        <p:nvSpPr>
          <p:cNvPr id="20" name="Text 18"/>
          <p:cNvSpPr/>
          <p:nvPr/>
        </p:nvSpPr>
        <p:spPr>
          <a:xfrm>
            <a:off x="1133951" y="6620947"/>
            <a:ext cx="1270265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5DC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By predicting accident severity in real-time, we enable emergency services to allocate resources more effectively, potentially saving lives through faster, more informed response decisions.</a:t>
            </a:r>
            <a:endParaRPr lang="en-US" sz="1750" dirty="0"/>
          </a:p>
        </p:txBody>
      </p:sp>
      <p:sp>
        <p:nvSpPr>
          <p:cNvPr id="21" name="Shape 19"/>
          <p:cNvSpPr/>
          <p:nvPr/>
        </p:nvSpPr>
        <p:spPr>
          <a:xfrm>
            <a:off x="793790" y="6365796"/>
            <a:ext cx="30480" cy="1236107"/>
          </a:xfrm>
          <a:prstGeom prst="rect">
            <a:avLst/>
          </a:prstGeom>
          <a:solidFill>
            <a:srgbClr val="EEAEF6"/>
          </a:solidFill>
          <a:ln/>
        </p:spPr>
      </p:sp>
      <p:sp>
        <p:nvSpPr>
          <p:cNvPr id="22" name="Text 11">
            <a:extLst>
              <a:ext uri="{FF2B5EF4-FFF2-40B4-BE49-F238E27FC236}">
                <a16:creationId xmlns:a16="http://schemas.microsoft.com/office/drawing/2014/main" id="{8799F74D-8AB9-BA78-0ABB-829162BDE671}"/>
              </a:ext>
            </a:extLst>
          </p:cNvPr>
          <p:cNvSpPr/>
          <p:nvPr/>
        </p:nvSpPr>
        <p:spPr>
          <a:xfrm>
            <a:off x="8737923" y="1736417"/>
            <a:ext cx="2851785" cy="3248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2000" b="1" dirty="0">
                <a:solidFill>
                  <a:srgbClr val="EEAEF6"/>
                </a:solidFill>
                <a:latin typeface="Bricolage Grotesque Extra Bold" pitchFamily="34" charset="0"/>
                <a:ea typeface="Bricolage Grotesque Extra Bold" pitchFamily="34" charset="-122"/>
                <a:cs typeface="Bricolage Grotesque Extra Bold" pitchFamily="34" charset="-120"/>
              </a:rPr>
              <a:t>Future Enhancements</a:t>
            </a:r>
            <a:endParaRPr lang="en-US" sz="2000" dirty="0"/>
          </a:p>
        </p:txBody>
      </p:sp>
      <p:sp>
        <p:nvSpPr>
          <p:cNvPr id="23" name="Shape 2">
            <a:extLst>
              <a:ext uri="{FF2B5EF4-FFF2-40B4-BE49-F238E27FC236}">
                <a16:creationId xmlns:a16="http://schemas.microsoft.com/office/drawing/2014/main" id="{84DC5B9F-EE76-4E4E-AF00-D11D9949D06B}"/>
              </a:ext>
            </a:extLst>
          </p:cNvPr>
          <p:cNvSpPr/>
          <p:nvPr/>
        </p:nvSpPr>
        <p:spPr>
          <a:xfrm>
            <a:off x="8737924" y="2101744"/>
            <a:ext cx="2697864" cy="45719"/>
          </a:xfrm>
          <a:prstGeom prst="rect">
            <a:avLst/>
          </a:prstGeom>
          <a:solidFill>
            <a:srgbClr val="EEAEF6"/>
          </a:solidFill>
          <a:ln/>
        </p:spPr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C789C2F1-369C-DD5A-E29B-1C194DB50E1F}"/>
              </a:ext>
            </a:extLst>
          </p:cNvPr>
          <p:cNvSpPr txBox="1"/>
          <p:nvPr/>
        </p:nvSpPr>
        <p:spPr>
          <a:xfrm>
            <a:off x="8380070" y="2334662"/>
            <a:ext cx="5056381" cy="37465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l">
              <a:lnSpc>
                <a:spcPts val="2150"/>
              </a:lnSpc>
              <a:buSzPct val="100000"/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rgbClr val="E5DC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Integration with IoT sensors and GPS for automatic data collection</a:t>
            </a:r>
          </a:p>
          <a:p>
            <a:pPr algn="l">
              <a:lnSpc>
                <a:spcPts val="2150"/>
              </a:lnSpc>
              <a:buSzPct val="100000"/>
            </a:pPr>
            <a:endParaRPr lang="en-US" sz="1800" dirty="0">
              <a:solidFill>
                <a:srgbClr val="E5DCE6"/>
              </a:solidFill>
              <a:latin typeface="Montserrat" pitchFamily="34" charset="0"/>
              <a:ea typeface="Montserrat" pitchFamily="34" charset="-122"/>
              <a:cs typeface="Montserrat" pitchFamily="34" charset="-120"/>
            </a:endParaRPr>
          </a:p>
          <a:p>
            <a:pPr marL="285750" indent="-285750">
              <a:lnSpc>
                <a:spcPts val="2150"/>
              </a:lnSpc>
              <a:buSzPct val="100000"/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E5DC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Live weather and traffic API connections</a:t>
            </a:r>
          </a:p>
          <a:p>
            <a:pPr marL="285750" indent="-285750">
              <a:lnSpc>
                <a:spcPts val="2150"/>
              </a:lnSpc>
              <a:buSzPct val="100000"/>
              <a:buFont typeface="Arial" panose="020B0604020202020204" pitchFamily="34" charset="0"/>
              <a:buChar char="•"/>
            </a:pPr>
            <a:endParaRPr lang="en-US" dirty="0">
              <a:solidFill>
                <a:srgbClr val="E5DCE6"/>
              </a:solidFill>
              <a:latin typeface="Montserrat" pitchFamily="34" charset="0"/>
            </a:endParaRPr>
          </a:p>
          <a:p>
            <a:pPr marL="285750" indent="-285750">
              <a:lnSpc>
                <a:spcPts val="2150"/>
              </a:lnSpc>
              <a:buSzPct val="100000"/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E5DC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Mobile application development</a:t>
            </a:r>
            <a:endParaRPr lang="en-US" dirty="0"/>
          </a:p>
          <a:p>
            <a:pPr algn="l">
              <a:lnSpc>
                <a:spcPts val="2150"/>
              </a:lnSpc>
              <a:buSzPct val="100000"/>
            </a:pPr>
            <a:endParaRPr lang="en-US" dirty="0">
              <a:solidFill>
                <a:srgbClr val="E5DCE6"/>
              </a:solidFill>
              <a:latin typeface="Montserrat" pitchFamily="34" charset="0"/>
              <a:ea typeface="Montserrat" pitchFamily="34" charset="-122"/>
              <a:cs typeface="Montserrat" pitchFamily="34" charset="-120"/>
            </a:endParaRPr>
          </a:p>
          <a:p>
            <a:pPr marL="285750" indent="-285750">
              <a:lnSpc>
                <a:spcPts val="2150"/>
              </a:lnSpc>
              <a:buSzPct val="100000"/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E5DC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Cloud deployment for 24/7 accessibility</a:t>
            </a:r>
          </a:p>
          <a:p>
            <a:pPr marL="285750" indent="-285750">
              <a:lnSpc>
                <a:spcPts val="2150"/>
              </a:lnSpc>
              <a:buSzPct val="100000"/>
              <a:buFont typeface="Arial" panose="020B0604020202020204" pitchFamily="34" charset="0"/>
              <a:buChar char="•"/>
            </a:pPr>
            <a:endParaRPr lang="en-US" dirty="0">
              <a:solidFill>
                <a:srgbClr val="E5DCE6"/>
              </a:solidFill>
              <a:latin typeface="Montserrat" pitchFamily="34" charset="0"/>
            </a:endParaRPr>
          </a:p>
          <a:p>
            <a:pPr marL="285750" indent="-285750">
              <a:lnSpc>
                <a:spcPts val="2150"/>
              </a:lnSpc>
              <a:buSzPct val="100000"/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E5DC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Advanced visualization dashboards</a:t>
            </a:r>
            <a:endParaRPr lang="en-US" dirty="0"/>
          </a:p>
          <a:p>
            <a:pPr marL="285750" indent="-285750">
              <a:lnSpc>
                <a:spcPts val="2150"/>
              </a:lnSpc>
              <a:buSzPct val="100000"/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 algn="l">
              <a:lnSpc>
                <a:spcPts val="2150"/>
              </a:lnSpc>
              <a:buSzPct val="100000"/>
              <a:buFont typeface="Arial" panose="020B0604020202020204" pitchFamily="34" charset="0"/>
              <a:buChar char="•"/>
            </a:pPr>
            <a:endParaRPr lang="en-US" sz="1800" dirty="0">
              <a:solidFill>
                <a:srgbClr val="E5DCE6"/>
              </a:solidFill>
              <a:latin typeface="Montserrat" pitchFamily="34" charset="0"/>
              <a:ea typeface="Montserrat" pitchFamily="34" charset="-122"/>
              <a:cs typeface="Montserrat" pitchFamily="34" charset="-120"/>
            </a:endParaRPr>
          </a:p>
        </p:txBody>
      </p:sp>
      <p:sp>
        <p:nvSpPr>
          <p:cNvPr id="26" name="Text 1">
            <a:extLst>
              <a:ext uri="{FF2B5EF4-FFF2-40B4-BE49-F238E27FC236}">
                <a16:creationId xmlns:a16="http://schemas.microsoft.com/office/drawing/2014/main" id="{CCE7166C-13A2-8B2A-C71F-BB31731D77F7}"/>
              </a:ext>
            </a:extLst>
          </p:cNvPr>
          <p:cNvSpPr/>
          <p:nvPr/>
        </p:nvSpPr>
        <p:spPr>
          <a:xfrm>
            <a:off x="1096473" y="1736417"/>
            <a:ext cx="2599253" cy="3248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2000" b="1" dirty="0">
                <a:solidFill>
                  <a:srgbClr val="EEAEF6"/>
                </a:solidFill>
                <a:latin typeface="Bricolage Grotesque Extra Bold" pitchFamily="34" charset="0"/>
                <a:ea typeface="Bricolage Grotesque Extra Bold" pitchFamily="34" charset="-122"/>
                <a:cs typeface="Bricolage Grotesque Extra Bold" pitchFamily="34" charset="-120"/>
              </a:rPr>
              <a:t>Key </a:t>
            </a:r>
            <a:r>
              <a:rPr lang="en-US" sz="2000" b="1" dirty="0">
                <a:solidFill>
                  <a:srgbClr val="EEAEF6"/>
                </a:solidFill>
                <a:latin typeface="Montserrat "/>
                <a:ea typeface="Bricolage Grotesque Extra Bold" pitchFamily="34" charset="-122"/>
                <a:cs typeface="Bricolage Grotesque Extra Bold" pitchFamily="34" charset="-120"/>
              </a:rPr>
              <a:t>Achievements</a:t>
            </a:r>
            <a:endParaRPr lang="en-US" sz="2000" dirty="0">
              <a:latin typeface="Montserrat "/>
            </a:endParaRPr>
          </a:p>
        </p:txBody>
      </p:sp>
      <p:sp>
        <p:nvSpPr>
          <p:cNvPr id="27" name="Text 3">
            <a:extLst>
              <a:ext uri="{FF2B5EF4-FFF2-40B4-BE49-F238E27FC236}">
                <a16:creationId xmlns:a16="http://schemas.microsoft.com/office/drawing/2014/main" id="{ACC96FB5-C43F-EBD7-F4B0-AFBFFCE83D66}"/>
              </a:ext>
            </a:extLst>
          </p:cNvPr>
          <p:cNvSpPr/>
          <p:nvPr/>
        </p:nvSpPr>
        <p:spPr>
          <a:xfrm>
            <a:off x="1169432" y="2377678"/>
            <a:ext cx="2417207" cy="2706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285750" indent="-285750" algn="l">
              <a:lnSpc>
                <a:spcPts val="2100"/>
              </a:lnSpc>
              <a:buFont typeface="Wingdings" panose="05000000000000000000" pitchFamily="2" charset="2"/>
              <a:buChar char="q"/>
            </a:pPr>
            <a:r>
              <a:rPr lang="en-US" sz="1700" b="1" dirty="0">
                <a:solidFill>
                  <a:srgbClr val="E5DCE6"/>
                </a:solidFill>
                <a:latin typeface="Bricolage Grotesque Extra Bold" pitchFamily="34" charset="0"/>
                <a:ea typeface="Bricolage Grotesque Extra Bold" pitchFamily="34" charset="-122"/>
                <a:cs typeface="Bricolage Grotesque Extra Bold" pitchFamily="34" charset="-120"/>
              </a:rPr>
              <a:t>High Accuracy System</a:t>
            </a:r>
            <a:endParaRPr lang="en-US" sz="1700" dirty="0"/>
          </a:p>
        </p:txBody>
      </p:sp>
      <p:sp>
        <p:nvSpPr>
          <p:cNvPr id="28" name="Text 4">
            <a:extLst>
              <a:ext uri="{FF2B5EF4-FFF2-40B4-BE49-F238E27FC236}">
                <a16:creationId xmlns:a16="http://schemas.microsoft.com/office/drawing/2014/main" id="{4FB20990-1ED8-35F5-24D0-D80875C777D9}"/>
              </a:ext>
            </a:extLst>
          </p:cNvPr>
          <p:cNvSpPr/>
          <p:nvPr/>
        </p:nvSpPr>
        <p:spPr>
          <a:xfrm>
            <a:off x="1196646" y="2821543"/>
            <a:ext cx="3564615" cy="8315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350" dirty="0">
                <a:solidFill>
                  <a:srgbClr val="E5DC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94.78% accuracy enables reliable severity predictions for emergency response.</a:t>
            </a:r>
            <a:endParaRPr lang="en-US" sz="1350" dirty="0"/>
          </a:p>
        </p:txBody>
      </p:sp>
      <p:sp>
        <p:nvSpPr>
          <p:cNvPr id="29" name="Text 6">
            <a:extLst>
              <a:ext uri="{FF2B5EF4-FFF2-40B4-BE49-F238E27FC236}">
                <a16:creationId xmlns:a16="http://schemas.microsoft.com/office/drawing/2014/main" id="{6AC83349-7F27-1A42-EF32-4076A717B955}"/>
              </a:ext>
            </a:extLst>
          </p:cNvPr>
          <p:cNvSpPr/>
          <p:nvPr/>
        </p:nvSpPr>
        <p:spPr>
          <a:xfrm>
            <a:off x="1195057" y="3688208"/>
            <a:ext cx="2402086" cy="2706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285750" indent="-285750" algn="l">
              <a:lnSpc>
                <a:spcPts val="2100"/>
              </a:lnSpc>
              <a:buFont typeface="Wingdings" panose="05000000000000000000" pitchFamily="2" charset="2"/>
              <a:buChar char="q"/>
            </a:pPr>
            <a:r>
              <a:rPr lang="en-US" sz="1700" b="1" dirty="0">
                <a:solidFill>
                  <a:srgbClr val="E5DCE6"/>
                </a:solidFill>
                <a:latin typeface="Bricolage Grotesque Extra Bold" pitchFamily="34" charset="0"/>
                <a:ea typeface="Bricolage Grotesque Extra Bold" pitchFamily="34" charset="-122"/>
                <a:cs typeface="Bricolage Grotesque Extra Bold" pitchFamily="34" charset="-120"/>
              </a:rPr>
              <a:t>Real-Time Deployment</a:t>
            </a:r>
            <a:endParaRPr lang="en-US" sz="1700" dirty="0"/>
          </a:p>
        </p:txBody>
      </p:sp>
      <p:sp>
        <p:nvSpPr>
          <p:cNvPr id="30" name="Text 7">
            <a:extLst>
              <a:ext uri="{FF2B5EF4-FFF2-40B4-BE49-F238E27FC236}">
                <a16:creationId xmlns:a16="http://schemas.microsoft.com/office/drawing/2014/main" id="{7AB80EA9-A7EC-2120-3464-881C11985B6B}"/>
              </a:ext>
            </a:extLst>
          </p:cNvPr>
          <p:cNvSpPr/>
          <p:nvPr/>
        </p:nvSpPr>
        <p:spPr>
          <a:xfrm>
            <a:off x="1223674" y="4067553"/>
            <a:ext cx="3564614" cy="5543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350" dirty="0">
                <a:solidFill>
                  <a:srgbClr val="E5DC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Flask web interface provides instant predictions for practical use.</a:t>
            </a:r>
            <a:endParaRPr lang="en-US" sz="1350" dirty="0"/>
          </a:p>
        </p:txBody>
      </p:sp>
      <p:sp>
        <p:nvSpPr>
          <p:cNvPr id="31" name="Text 9">
            <a:extLst>
              <a:ext uri="{FF2B5EF4-FFF2-40B4-BE49-F238E27FC236}">
                <a16:creationId xmlns:a16="http://schemas.microsoft.com/office/drawing/2014/main" id="{867ACC09-6751-8705-B4FB-52BF87E7BA98}"/>
              </a:ext>
            </a:extLst>
          </p:cNvPr>
          <p:cNvSpPr/>
          <p:nvPr/>
        </p:nvSpPr>
        <p:spPr>
          <a:xfrm>
            <a:off x="1169432" y="4838917"/>
            <a:ext cx="2325172" cy="2706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285750" indent="-285750" algn="l">
              <a:lnSpc>
                <a:spcPts val="2100"/>
              </a:lnSpc>
              <a:buFont typeface="Wingdings" panose="05000000000000000000" pitchFamily="2" charset="2"/>
              <a:buChar char="q"/>
            </a:pPr>
            <a:r>
              <a:rPr lang="en-US" sz="1700" b="1" dirty="0">
                <a:solidFill>
                  <a:srgbClr val="E5DCE6"/>
                </a:solidFill>
                <a:latin typeface="Bricolage Grotesque Extra Bold" pitchFamily="34" charset="0"/>
                <a:ea typeface="Bricolage Grotesque Extra Bold" pitchFamily="34" charset="-122"/>
                <a:cs typeface="Bricolage Grotesque Extra Bold" pitchFamily="34" charset="-120"/>
              </a:rPr>
              <a:t>Scalable </a:t>
            </a:r>
            <a:r>
              <a:rPr lang="en-US" sz="1700" b="1" dirty="0">
                <a:solidFill>
                  <a:srgbClr val="E5DCE6"/>
                </a:solidFill>
                <a:latin typeface="Montserrat "/>
                <a:ea typeface="Bricolage Grotesque Extra Bold" pitchFamily="34" charset="-122"/>
                <a:cs typeface="Bricolage Grotesque Extra Bold" pitchFamily="34" charset="-120"/>
              </a:rPr>
              <a:t>Architecture</a:t>
            </a:r>
            <a:endParaRPr lang="en-US" sz="1700" dirty="0">
              <a:latin typeface="Montserrat "/>
            </a:endParaRPr>
          </a:p>
        </p:txBody>
      </p:sp>
      <p:sp>
        <p:nvSpPr>
          <p:cNvPr id="32" name="Text 10">
            <a:extLst>
              <a:ext uri="{FF2B5EF4-FFF2-40B4-BE49-F238E27FC236}">
                <a16:creationId xmlns:a16="http://schemas.microsoft.com/office/drawing/2014/main" id="{910B6E86-3F05-5931-AA5B-C3D0DD7A1C4D}"/>
              </a:ext>
            </a:extLst>
          </p:cNvPr>
          <p:cNvSpPr/>
          <p:nvPr/>
        </p:nvSpPr>
        <p:spPr>
          <a:xfrm>
            <a:off x="1237260" y="5280064"/>
            <a:ext cx="3564613" cy="5543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350" dirty="0">
                <a:solidFill>
                  <a:srgbClr val="E5DC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Modular design ready for cloud deployment and API integration.</a:t>
            </a:r>
            <a:endParaRPr lang="en-US" sz="13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E46248-ED54-4EC4-906A-EEB3E66E1F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EEE5B3B7-AEAF-CDE0-2266-AFD5B2094B77}"/>
              </a:ext>
            </a:extLst>
          </p:cNvPr>
          <p:cNvSpPr/>
          <p:nvPr/>
        </p:nvSpPr>
        <p:spPr>
          <a:xfrm>
            <a:off x="839028" y="1068642"/>
            <a:ext cx="5468114" cy="5669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450"/>
              </a:lnSpc>
              <a:buNone/>
            </a:pPr>
            <a:r>
              <a:rPr lang="en-US" sz="4400" b="1" dirty="0">
                <a:solidFill>
                  <a:srgbClr val="EEAEF6"/>
                </a:solidFill>
                <a:latin typeface="Montserrat Medium" panose="00000600000000000000" pitchFamily="2" charset="0"/>
              </a:rPr>
              <a:t>Conclusion</a:t>
            </a:r>
            <a:endParaRPr lang="en-US" sz="4400" dirty="0">
              <a:latin typeface="Montserrat Medium" panose="00000600000000000000" pitchFamily="2" charset="0"/>
            </a:endParaRPr>
          </a:p>
        </p:txBody>
      </p:sp>
      <p:sp>
        <p:nvSpPr>
          <p:cNvPr id="21" name="Shape 19">
            <a:extLst>
              <a:ext uri="{FF2B5EF4-FFF2-40B4-BE49-F238E27FC236}">
                <a16:creationId xmlns:a16="http://schemas.microsoft.com/office/drawing/2014/main" id="{DDEA9251-6C4D-BEEF-0DFF-20B95F6D68FB}"/>
              </a:ext>
            </a:extLst>
          </p:cNvPr>
          <p:cNvSpPr/>
          <p:nvPr/>
        </p:nvSpPr>
        <p:spPr>
          <a:xfrm>
            <a:off x="770449" y="2592595"/>
            <a:ext cx="45719" cy="2700170"/>
          </a:xfrm>
          <a:prstGeom prst="rect">
            <a:avLst/>
          </a:prstGeom>
          <a:solidFill>
            <a:srgbClr val="EEAEF6"/>
          </a:solidFill>
          <a:ln/>
        </p:spPr>
      </p:sp>
      <p:sp>
        <p:nvSpPr>
          <p:cNvPr id="5" name="Text 7">
            <a:extLst>
              <a:ext uri="{FF2B5EF4-FFF2-40B4-BE49-F238E27FC236}">
                <a16:creationId xmlns:a16="http://schemas.microsoft.com/office/drawing/2014/main" id="{369480B2-313D-CED3-82AB-74C669F55140}"/>
              </a:ext>
            </a:extLst>
          </p:cNvPr>
          <p:cNvSpPr/>
          <p:nvPr/>
        </p:nvSpPr>
        <p:spPr>
          <a:xfrm>
            <a:off x="987005" y="2764715"/>
            <a:ext cx="11491866" cy="27001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85750" indent="-285750">
              <a:lnSpc>
                <a:spcPts val="2150"/>
              </a:lnSpc>
              <a:buFont typeface="Wingdings" panose="05000000000000000000" pitchFamily="2" charset="2"/>
              <a:buChar char="q"/>
            </a:pPr>
            <a:r>
              <a:rPr lang="en-US" sz="2200" dirty="0">
                <a:solidFill>
                  <a:schemeClr val="bg1"/>
                </a:solidFill>
                <a:latin typeface="+mj-lt"/>
              </a:rPr>
              <a:t>The system accurately predicts traffic accident severity levels — </a:t>
            </a:r>
            <a:r>
              <a:rPr lang="en-US" sz="2200" i="1" dirty="0">
                <a:solidFill>
                  <a:schemeClr val="bg1"/>
                </a:solidFill>
                <a:latin typeface="+mj-lt"/>
              </a:rPr>
              <a:t>Fatal, Serious,</a:t>
            </a:r>
            <a:r>
              <a:rPr lang="en-US" sz="2200" dirty="0">
                <a:solidFill>
                  <a:schemeClr val="bg1"/>
                </a:solidFill>
                <a:latin typeface="+mj-lt"/>
              </a:rPr>
              <a:t> or </a:t>
            </a:r>
            <a:r>
              <a:rPr lang="en-US" sz="2200" i="1" dirty="0">
                <a:solidFill>
                  <a:schemeClr val="bg1"/>
                </a:solidFill>
                <a:latin typeface="+mj-lt"/>
              </a:rPr>
              <a:t>Slight</a:t>
            </a:r>
            <a:r>
              <a:rPr lang="en-US" sz="2200" dirty="0">
                <a:solidFill>
                  <a:schemeClr val="bg1"/>
                </a:solidFill>
                <a:latin typeface="+mj-lt"/>
              </a:rPr>
              <a:t> — using real-time input factors.</a:t>
            </a:r>
          </a:p>
          <a:p>
            <a:pPr>
              <a:lnSpc>
                <a:spcPts val="2150"/>
              </a:lnSpc>
            </a:pPr>
            <a:endParaRPr lang="en-US" sz="2200" dirty="0">
              <a:solidFill>
                <a:schemeClr val="bg1"/>
              </a:solidFill>
              <a:latin typeface="+mj-lt"/>
            </a:endParaRPr>
          </a:p>
          <a:p>
            <a:pPr marL="285750" indent="-285750">
              <a:lnSpc>
                <a:spcPts val="2150"/>
              </a:lnSpc>
              <a:buFont typeface="Wingdings" panose="05000000000000000000" pitchFamily="2" charset="2"/>
              <a:buChar char="q"/>
            </a:pPr>
            <a:r>
              <a:rPr lang="en-US" sz="2200" dirty="0">
                <a:solidFill>
                  <a:schemeClr val="bg1"/>
                </a:solidFill>
                <a:latin typeface="+mj-lt"/>
              </a:rPr>
              <a:t>The Random Forest model achieved 94.78% accuracy, confirming the system’s efficiency and reliability.</a:t>
            </a:r>
          </a:p>
          <a:p>
            <a:pPr>
              <a:lnSpc>
                <a:spcPts val="2150"/>
              </a:lnSpc>
            </a:pPr>
            <a:endParaRPr lang="en-US" sz="2200" dirty="0">
              <a:solidFill>
                <a:schemeClr val="bg1"/>
              </a:solidFill>
              <a:latin typeface="+mj-lt"/>
            </a:endParaRPr>
          </a:p>
          <a:p>
            <a:pPr marL="285750" indent="-285750">
              <a:lnSpc>
                <a:spcPts val="2150"/>
              </a:lnSpc>
              <a:buFont typeface="Wingdings" panose="05000000000000000000" pitchFamily="2" charset="2"/>
              <a:buChar char="q"/>
            </a:pPr>
            <a:r>
              <a:rPr lang="en-US" sz="2200" dirty="0">
                <a:solidFill>
                  <a:schemeClr val="bg1"/>
                </a:solidFill>
                <a:latin typeface="+mj-lt"/>
              </a:rPr>
              <a:t>Demonstrates an end-to-end AI workflow from data preprocessing to Flask deployment, laying the groundwork for future integration with IoT and live traffic data.</a:t>
            </a:r>
          </a:p>
        </p:txBody>
      </p:sp>
    </p:spTree>
    <p:extLst>
      <p:ext uri="{BB962C8B-B14F-4D97-AF65-F5344CB8AC3E}">
        <p14:creationId xmlns:p14="http://schemas.microsoft.com/office/powerpoint/2010/main" val="337331293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227</TotalTime>
  <Words>789</Words>
  <Application>Microsoft Office PowerPoint</Application>
  <PresentationFormat>Custom</PresentationFormat>
  <Paragraphs>130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20" baseType="lpstr">
      <vt:lpstr>Montserrat </vt:lpstr>
      <vt:lpstr>Wingdings</vt:lpstr>
      <vt:lpstr>Bricolage Grotesque Light</vt:lpstr>
      <vt:lpstr>Arial</vt:lpstr>
      <vt:lpstr>Montserrat Medium</vt:lpstr>
      <vt:lpstr>Bricolage Grotesque Extra Bold</vt:lpstr>
      <vt:lpstr>Montserrat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ROJA PASUPULETI</cp:lastModifiedBy>
  <cp:revision>7</cp:revision>
  <dcterms:created xsi:type="dcterms:W3CDTF">2025-11-11T12:08:14Z</dcterms:created>
  <dcterms:modified xsi:type="dcterms:W3CDTF">2025-11-11T17:26:24Z</dcterms:modified>
</cp:coreProperties>
</file>